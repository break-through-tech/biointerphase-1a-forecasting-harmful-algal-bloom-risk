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oal and data" id="{039a2689-32e0-a0c0-c4eb-660b44c65ccb}">
          <p14:sldIdLst>
            <p14:sldId id="256"/>
            <p14:sldId id="257"/>
            <p14:sldId id="258"/>
          </p14:sldIdLst>
        </p14:section>
        <p14:section name="Combining the datasets" id="{49aa369c-978b-e8db-8004-ca8949382aa5}">
          <p14:sldIdLst>
            <p14:sldId id="259"/>
            <p14:sldId id="260"/>
            <p14:sldId id="261"/>
            <p14:sldId id="262"/>
            <p14:sldId id="263"/>
          </p14:sldIdLst>
        </p14:section>
        <p14:section name="Cleaning" id="{806feed5-b192-8b9d-afd2-18287c7b8a8d}">
          <p14:sldIdLst>
            <p14:sldId id="264"/>
            <p14:sldId id="265"/>
            <p14:sldId id="266"/>
          </p14:sldIdLst>
        </p14:section>
        <p14:section name="Merge and results" id="{bbee0c63-b91a-30cb-42f8-f6379decea57}">
          <p14:sldIdLst>
            <p14:sldId id="267"/>
            <p14:sldId id="268"/>
            <p14:sldId id="269"/>
          </p14:sldIdLst>
        </p14:section>
        <p14:section name="Limits and next steps" id="{87623739-f763-3081-6b7e-9fcd4d499e99}">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By chlorophyll level (mg m⁻³)</a:t>
            </a:r>
          </a:p>
        </c:rich>
      </c:tx>
      <c:layout/>
      <c:overlay val="0"/>
    </c:title>
    <c:autoTitleDeleted val="0"/>
    <c:plotArea>
      <c:layout/>
      <c:lineChart>
        <c:varyColors val="0"/>
        <c:ser>
          <c:idx val="0"/>
          <c:order val="0"/>
          <c:tx>
            <c:strRef>
              <c:f>Sheet1!$B$1</c:f>
              <c:strCache>
                <c:ptCount val="1"/>
                <c:pt idx="0">
                  <c:v>Gap</c:v>
                </c:pt>
              </c:strCache>
            </c:strRef>
          </c:tx>
          <c:spPr>
            <a:solidFill>
              <a:srgbClr val="1F4E79"/>
            </a:solidFill>
            <a:ln w="25400" cap="flat">
              <a:solidFill>
                <a:srgbClr val="1F4E79"/>
              </a:solidFill>
              <a:prstDash val="solid"/>
              <a:round/>
            </a:ln>
            <a:effectLst/>
          </c:spPr>
          <c:invertIfNegative val="0"/>
          <c:dLbls>
            <c:numFmt formatCode="0" sourceLinked="0"/>
            <c:txPr>
              <a:bodyPr/>
              <a:lstStyle/>
              <a:p>
                <a:pPr>
                  <a:defRPr b="0" i="0" strike="noStrike" sz="1100" u="none">
                    <a:solidFill>
                      <a:srgbClr val="404040"/>
                    </a:solidFill>
                    <a:latin typeface="+mn-lt"/>
                  </a:defRPr>
                </a:pPr>
              </a:p>
            </c:txPr>
            <c:dLblPos val="t"/>
            <c:showLegendKey val="0"/>
            <c:showVal val="1"/>
            <c:showCatName val="0"/>
            <c:showSerName val="0"/>
            <c:showPercent val="0"/>
            <c:showBubbleSize val="0"/>
            <c:showLeaderLines val="0"/>
          </c:dLbls>
          <c:marker>
            <c:symbol val="circle"/>
            <c:size val="7"/>
            <c:spPr>
              <a:solidFill>
                <a:srgbClr val="1F4E79"/>
              </a:solidFill>
              <a:ln w="9525" cap="flat">
                <a:solidFill>
                  <a:srgbClr val="1F4E79"/>
                </a:solidFill>
                <a:prstDash val="solid"/>
                <a:round/>
              </a:ln>
              <a:effectLst/>
            </c:spPr>
          </c:marker>
          <c:cat>
            <c:multiLvlStrRef>
              <c:f>Sheet1!$A$2:$A$7</c:f>
              <c:multiLvlStrCache>
                <c:ptCount val="6"/>
                <c:lvl>
                  <c:pt idx="0">
                    <c:v>&lt; 0.2</c:v>
                  </c:pt>
                  <c:pt idx="1">
                    <c:v>0.2–0.5</c:v>
                  </c:pt>
                  <c:pt idx="2">
                    <c:v>0.5–1</c:v>
                  </c:pt>
                  <c:pt idx="3">
                    <c:v>1–3</c:v>
                  </c:pt>
                  <c:pt idx="4">
                    <c:v>3–10</c:v>
                  </c:pt>
                  <c:pt idx="5">
                    <c:v>&gt; 10</c:v>
                  </c:pt>
                </c:lvl>
              </c:multiLvlStrCache>
            </c:multiLvlStrRef>
          </c:cat>
          <c:val>
            <c:numRef>
              <c:f>Sheet1!$B$2:$B$7</c:f>
              <c:numCache>
                <c:formatCode>General</c:formatCode>
                <c:ptCount val="6"/>
                <c:pt idx="0">
                  <c:v>1.4</c:v>
                </c:pt>
                <c:pt idx="1">
                  <c:v>9.7</c:v>
                </c:pt>
                <c:pt idx="2">
                  <c:v>4.6</c:v>
                </c:pt>
                <c:pt idx="3">
                  <c:v>10</c:v>
                </c:pt>
                <c:pt idx="4">
                  <c:v>13.1</c:v>
                </c:pt>
                <c:pt idx="5">
                  <c:v>42.1</c:v>
                </c:pt>
              </c:numCache>
            </c:numRef>
          </c:val>
          <c:smooth val="0"/>
        </c:ser>
        <c:dLbls>
          <c:numFmt formatCode="0" sourceLinked="0"/>
          <c:txPr>
            <a:bodyPr/>
            <a:lstStyle/>
            <a:p>
              <a:pPr>
                <a:defRPr b="0" i="0" strike="noStrike" sz="1100" u="none">
                  <a:solidFill>
                    <a:srgbClr val="404040"/>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50"/>
          <c:min val="-10"/>
        </c:scaling>
        <c:delete val="0"/>
        <c:axPos val="l"/>
        <c:majorGridlines>
          <c:spPr>
            <a:ln w="9525" cap="flat">
              <a:solidFill>
                <a:srgbClr val="E3E3E3"/>
              </a:solidFill>
              <a:prstDash val="solid"/>
              <a:round/>
            </a:ln>
          </c:spPr>
        </c:majorGridlines>
        <c:title>
          <c:tx>
            <c:rich>
              <a:bodyPr/>
              <a:lstStyle/>
              <a:p>
                <a:pPr>
                  <a:defRPr sz="1100" b="0" i="0" u="none" strike="noStrike">
                    <a:solidFill>
                      <a:srgbClr val="404040"/>
                    </a:solidFill>
                    <a:latin typeface="+mn-lt"/>
                  </a:defRPr>
                </a:pPr>
                <a:r>
                  <a:rPr sz="1100" b="0" i="0" u="none" strike="noStrike">
                    <a:solidFill>
                      <a:srgbClr val="404040"/>
                    </a:solidFill>
                    <a:latin typeface="+mn-lt"/>
                  </a:rPr>
                  <a:t>% DS1 reads lower than DS2</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04040"/>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By season</a:t>
            </a:r>
          </a:p>
        </c:rich>
      </c:tx>
      <c:layout/>
      <c:overlay val="0"/>
    </c:title>
    <c:autoTitleDeleted val="0"/>
    <c:plotArea>
      <c:layout/>
      <c:lineChart>
        <c:varyColors val="0"/>
        <c:ser>
          <c:idx val="0"/>
          <c:order val="0"/>
          <c:tx>
            <c:strRef>
              <c:f>Sheet1!$B$1</c:f>
              <c:strCache>
                <c:ptCount val="1"/>
                <c:pt idx="0">
                  <c:v>Gap</c:v>
                </c:pt>
              </c:strCache>
            </c:strRef>
          </c:tx>
          <c:spPr>
            <a:solidFill>
              <a:srgbClr val="1F4E79"/>
            </a:solidFill>
            <a:ln w="25400" cap="flat">
              <a:solidFill>
                <a:srgbClr val="1F4E79"/>
              </a:solidFill>
              <a:prstDash val="solid"/>
              <a:round/>
            </a:ln>
            <a:effectLst/>
          </c:spPr>
          <c:invertIfNegative val="0"/>
          <c:dLbls>
            <c:numFmt formatCode="0" sourceLinked="0"/>
            <c:txPr>
              <a:bodyPr/>
              <a:lstStyle/>
              <a:p>
                <a:pPr>
                  <a:defRPr b="0" i="0" strike="noStrike" sz="1100" u="none">
                    <a:solidFill>
                      <a:srgbClr val="404040"/>
                    </a:solidFill>
                    <a:latin typeface="+mn-lt"/>
                  </a:defRPr>
                </a:pPr>
              </a:p>
            </c:txPr>
            <c:dLblPos val="t"/>
            <c:showLegendKey val="0"/>
            <c:showVal val="1"/>
            <c:showCatName val="0"/>
            <c:showSerName val="0"/>
            <c:showPercent val="0"/>
            <c:showBubbleSize val="0"/>
            <c:showLeaderLines val="0"/>
          </c:dLbls>
          <c:marker>
            <c:symbol val="circle"/>
            <c:size val="7"/>
            <c:spPr>
              <a:solidFill>
                <a:srgbClr val="1F4E79"/>
              </a:solidFill>
              <a:ln w="9525" cap="flat">
                <a:solidFill>
                  <a:srgbClr val="1F4E79"/>
                </a:solidFill>
                <a:prstDash val="solid"/>
                <a:round/>
              </a:ln>
              <a:effectLst/>
            </c:spPr>
          </c:marker>
          <c:cat>
            <c:multiLvlStrRef>
              <c:f>Sheet1!$A$2:$A$5</c:f>
              <c:multiLvlStrCache>
                <c:ptCount val="4"/>
                <c:lvl>
                  <c:pt idx="0">
                    <c:v>Winter</c:v>
                  </c:pt>
                  <c:pt idx="1">
                    <c:v>Spring</c:v>
                  </c:pt>
                  <c:pt idx="2">
                    <c:v>Summer</c:v>
                  </c:pt>
                  <c:pt idx="3">
                    <c:v>Autumn</c:v>
                  </c:pt>
                </c:lvl>
              </c:multiLvlStrCache>
            </c:multiLvlStrRef>
          </c:cat>
          <c:val>
            <c:numRef>
              <c:f>Sheet1!$B$2:$B$5</c:f>
              <c:numCache>
                <c:formatCode>General</c:formatCode>
                <c:ptCount val="4"/>
                <c:pt idx="0">
                  <c:v>13.8</c:v>
                </c:pt>
                <c:pt idx="1">
                  <c:v>-0.2</c:v>
                </c:pt>
                <c:pt idx="2">
                  <c:v>1.5</c:v>
                </c:pt>
                <c:pt idx="3">
                  <c:v>10.4</c:v>
                </c:pt>
              </c:numCache>
            </c:numRef>
          </c:val>
          <c:smooth val="0"/>
        </c:ser>
        <c:dLbls>
          <c:numFmt formatCode="0" sourceLinked="0"/>
          <c:txPr>
            <a:bodyPr/>
            <a:lstStyle/>
            <a:p>
              <a:pPr>
                <a:defRPr b="0" i="0" strike="noStrike" sz="1100" u="none">
                  <a:solidFill>
                    <a:srgbClr val="404040"/>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50"/>
          <c:min val="-10"/>
        </c:scaling>
        <c:delete val="0"/>
        <c:axPos val="l"/>
        <c:majorGridlines>
          <c:spPr>
            <a:ln w="9525" cap="flat">
              <a:solidFill>
                <a:srgbClr val="E3E3E3"/>
              </a:solidFill>
              <a:prstDash val="solid"/>
              <a:round/>
            </a:ln>
          </c:spPr>
        </c:majorGridlines>
        <c:title>
          <c:tx>
            <c:rich>
              <a:bodyPr/>
              <a:lstStyle/>
              <a:p>
                <a:pPr>
                  <a:defRPr sz="1100" b="0" i="0" u="none" strike="noStrike">
                    <a:solidFill>
                      <a:srgbClr val="404040"/>
                    </a:solidFill>
                    <a:latin typeface="+mn-lt"/>
                  </a:defRPr>
                </a:pPr>
                <a:r>
                  <a:rPr sz="1100" b="0" i="0" u="none" strike="noStrike">
                    <a:solidFill>
                      <a:srgbClr val="404040"/>
                    </a:solidFill>
                    <a:latin typeface="+mn-lt"/>
                  </a:rPr>
                  <a:t>% DS1 reads lower than DS2</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04040"/>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Test year: gap by chlorophyll level (mg m⁻³)</a:t>
            </a:r>
          </a:p>
        </c:rich>
      </c:tx>
      <c:layout/>
      <c:overlay val="0"/>
    </c:title>
    <c:autoTitleDeleted val="0"/>
    <c:plotArea>
      <c:layout/>
      <c:lineChart>
        <c:varyColors val="0"/>
        <c:ser>
          <c:idx val="0"/>
          <c:order val="0"/>
          <c:tx>
            <c:strRef>
              <c:f>Sheet1!$B$1</c:f>
              <c:strCache>
                <c:ptCount val="1"/>
                <c:pt idx="0">
                  <c:v>Before adjustment</c:v>
                </c:pt>
              </c:strCache>
            </c:strRef>
          </c:tx>
          <c:spPr>
            <a:solidFill>
              <a:srgbClr val="A6A6A6"/>
            </a:solidFill>
            <a:ln w="25400" cap="flat">
              <a:solidFill>
                <a:srgbClr val="A6A6A6"/>
              </a:solidFill>
              <a:prstDash val="solid"/>
              <a:round/>
            </a:ln>
            <a:effectLst/>
          </c:spPr>
          <c:invertIfNegative val="0"/>
          <c:dLbls>
            <c:numFmt formatCode="0" sourceLinked="0"/>
            <c:txPr>
              <a:bodyPr/>
              <a:lstStyle/>
              <a:p>
                <a:pPr>
                  <a:defRPr b="0" i="0" strike="noStrike" sz="1100" u="none">
                    <a:solidFill>
                      <a:srgbClr val="404040"/>
                    </a:solidFill>
                    <a:latin typeface="+mn-lt"/>
                  </a:defRPr>
                </a:pPr>
              </a:p>
            </c:txPr>
            <c:dLblPos val="t"/>
            <c:showLegendKey val="0"/>
            <c:showVal val="1"/>
            <c:showCatName val="0"/>
            <c:showSerName val="0"/>
            <c:showPercent val="0"/>
            <c:showBubbleSize val="0"/>
            <c:showLeaderLines val="0"/>
          </c:dLbls>
          <c:marker>
            <c:symbol val="circle"/>
            <c:size val="7"/>
            <c:spPr>
              <a:solidFill>
                <a:srgbClr val="A6A6A6"/>
              </a:solidFill>
              <a:ln w="9525" cap="flat">
                <a:solidFill>
                  <a:srgbClr val="A6A6A6"/>
                </a:solidFill>
                <a:prstDash val="solid"/>
                <a:round/>
              </a:ln>
              <a:effectLst/>
            </c:spPr>
          </c:marker>
          <c:cat>
            <c:multiLvlStrRef>
              <c:f>Sheet1!$A$2:$A$7</c:f>
              <c:multiLvlStrCache>
                <c:ptCount val="6"/>
                <c:lvl>
                  <c:pt idx="0">
                    <c:v>&lt; 0.2</c:v>
                  </c:pt>
                  <c:pt idx="1">
                    <c:v>0.2–0.5</c:v>
                  </c:pt>
                  <c:pt idx="2">
                    <c:v>0.5–1</c:v>
                  </c:pt>
                  <c:pt idx="3">
                    <c:v>1–3</c:v>
                  </c:pt>
                  <c:pt idx="4">
                    <c:v>3–10</c:v>
                  </c:pt>
                  <c:pt idx="5">
                    <c:v>&gt; 10</c:v>
                  </c:pt>
                </c:lvl>
              </c:multiLvlStrCache>
            </c:multiLvlStrRef>
          </c:cat>
          <c:val>
            <c:numRef>
              <c:f>Sheet1!$B$2:$B$7</c:f>
              <c:numCache>
                <c:formatCode>General</c:formatCode>
                <c:ptCount val="6"/>
                <c:pt idx="0">
                  <c:v>1.8</c:v>
                </c:pt>
                <c:pt idx="1">
                  <c:v>9.7</c:v>
                </c:pt>
                <c:pt idx="2">
                  <c:v>2.5</c:v>
                </c:pt>
                <c:pt idx="3">
                  <c:v>9.3</c:v>
                </c:pt>
                <c:pt idx="4">
                  <c:v>14.3</c:v>
                </c:pt>
                <c:pt idx="5">
                  <c:v>44.3</c:v>
                </c:pt>
              </c:numCache>
            </c:numRef>
          </c:val>
          <c:smooth val="0"/>
        </c:ser>
        <c:ser>
          <c:idx val="1"/>
          <c:order val="1"/>
          <c:tx>
            <c:strRef>
              <c:f>Sheet1!$C$1</c:f>
              <c:strCache>
                <c:ptCount val="1"/>
                <c:pt idx="0">
                  <c:v>After adjustment</c:v>
                </c:pt>
              </c:strCache>
            </c:strRef>
          </c:tx>
          <c:spPr>
            <a:solidFill>
              <a:srgbClr val="1F4E79"/>
            </a:solidFill>
            <a:ln w="25400" cap="flat">
              <a:solidFill>
                <a:srgbClr val="1F4E79"/>
              </a:solidFill>
              <a:prstDash val="solid"/>
              <a:round/>
            </a:ln>
            <a:effectLst/>
          </c:spPr>
          <c:invertIfNegative val="0"/>
          <c:dLbls>
            <c:numFmt formatCode="0" sourceLinked="0"/>
            <c:txPr>
              <a:bodyPr/>
              <a:lstStyle/>
              <a:p>
                <a:pPr>
                  <a:defRPr b="0" i="0" strike="noStrike" sz="1100" u="none">
                    <a:solidFill>
                      <a:srgbClr val="404040"/>
                    </a:solidFill>
                    <a:latin typeface="+mn-lt"/>
                  </a:defRPr>
                </a:pPr>
              </a:p>
            </c:txPr>
            <c:dLblPos val="t"/>
            <c:showLegendKey val="0"/>
            <c:showVal val="1"/>
            <c:showCatName val="0"/>
            <c:showSerName val="0"/>
            <c:showPercent val="0"/>
            <c:showBubbleSize val="0"/>
            <c:showLeaderLines val="0"/>
          </c:dLbls>
          <c:marker>
            <c:symbol val="circle"/>
            <c:size val="7"/>
            <c:spPr>
              <a:solidFill>
                <a:srgbClr val="1F4E79"/>
              </a:solidFill>
              <a:ln w="9525" cap="flat">
                <a:solidFill>
                  <a:srgbClr val="1F4E79"/>
                </a:solidFill>
                <a:prstDash val="solid"/>
                <a:round/>
              </a:ln>
              <a:effectLst/>
            </c:spPr>
          </c:marker>
          <c:cat>
            <c:multiLvlStrRef>
              <c:f>Sheet1!$A$2:$A$7</c:f>
              <c:multiLvlStrCache>
                <c:ptCount val="6"/>
                <c:lvl>
                  <c:pt idx="0">
                    <c:v>&lt; 0.2</c:v>
                  </c:pt>
                  <c:pt idx="1">
                    <c:v>0.2–0.5</c:v>
                  </c:pt>
                  <c:pt idx="2">
                    <c:v>0.5–1</c:v>
                  </c:pt>
                  <c:pt idx="3">
                    <c:v>1–3</c:v>
                  </c:pt>
                  <c:pt idx="4">
                    <c:v>3–10</c:v>
                  </c:pt>
                  <c:pt idx="5">
                    <c:v>&gt; 10</c:v>
                  </c:pt>
                </c:lvl>
              </c:multiLvlStrCache>
            </c:multiLvlStrRef>
          </c:cat>
          <c:val>
            <c:numRef>
              <c:f>Sheet1!$C$2:$C$7</c:f>
              <c:numCache>
                <c:formatCode>General</c:formatCode>
                <c:ptCount val="6"/>
                <c:pt idx="0">
                  <c:v>2.3</c:v>
                </c:pt>
                <c:pt idx="1">
                  <c:v>-1.4</c:v>
                </c:pt>
                <c:pt idx="2">
                  <c:v>-3.4</c:v>
                </c:pt>
                <c:pt idx="3">
                  <c:v>2</c:v>
                </c:pt>
                <c:pt idx="4">
                  <c:v>8.4</c:v>
                </c:pt>
                <c:pt idx="5">
                  <c:v>21.7</c:v>
                </c:pt>
              </c:numCache>
            </c:numRef>
          </c:val>
          <c:smooth val="0"/>
        </c:ser>
        <c:dLbls>
          <c:numFmt formatCode="0" sourceLinked="0"/>
          <c:txPr>
            <a:bodyPr/>
            <a:lstStyle/>
            <a:p>
              <a:pPr>
                <a:defRPr b="0" i="0" strike="noStrike" sz="1100" u="none">
                  <a:solidFill>
                    <a:srgbClr val="404040"/>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50"/>
          <c:min val="-10"/>
        </c:scaling>
        <c:delete val="0"/>
        <c:axPos val="l"/>
        <c:majorGridlines>
          <c:spPr>
            <a:ln w="9525" cap="flat">
              <a:solidFill>
                <a:srgbClr val="E3E3E3"/>
              </a:solidFill>
              <a:prstDash val="solid"/>
              <a:round/>
            </a:ln>
          </c:spPr>
        </c:majorGridlines>
        <c:title>
          <c:tx>
            <c:rich>
              <a:bodyPr/>
              <a:lstStyle/>
              <a:p>
                <a:pPr>
                  <a:defRPr sz="1100" b="0" i="0" u="none" strike="noStrike">
                    <a:solidFill>
                      <a:srgbClr val="404040"/>
                    </a:solidFill>
                    <a:latin typeface="+mn-lt"/>
                  </a:defRPr>
                </a:pPr>
                <a:r>
                  <a:rPr sz="1100" b="0" i="0" u="none" strike="noStrike">
                    <a:solidFill>
                      <a:srgbClr val="404040"/>
                    </a:solidFill>
                    <a:latin typeface="+mn-lt"/>
                  </a:rPr>
                  <a:t>% DS1 reads lower than DS2</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04040"/>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40404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Test year: gap by season</a:t>
            </a:r>
          </a:p>
        </c:rich>
      </c:tx>
      <c:layout/>
      <c:overlay val="0"/>
    </c:title>
    <c:autoTitleDeleted val="0"/>
    <c:plotArea>
      <c:layout/>
      <c:lineChart>
        <c:varyColors val="0"/>
        <c:ser>
          <c:idx val="0"/>
          <c:order val="0"/>
          <c:tx>
            <c:strRef>
              <c:f>Sheet1!$B$1</c:f>
              <c:strCache>
                <c:ptCount val="1"/>
                <c:pt idx="0">
                  <c:v>Before adjustment</c:v>
                </c:pt>
              </c:strCache>
            </c:strRef>
          </c:tx>
          <c:spPr>
            <a:solidFill>
              <a:srgbClr val="A6A6A6"/>
            </a:solidFill>
            <a:ln w="25400" cap="flat">
              <a:solidFill>
                <a:srgbClr val="A6A6A6"/>
              </a:solidFill>
              <a:prstDash val="solid"/>
              <a:round/>
            </a:ln>
            <a:effectLst/>
          </c:spPr>
          <c:invertIfNegative val="0"/>
          <c:dLbls>
            <c:numFmt formatCode="0" sourceLinked="0"/>
            <c:txPr>
              <a:bodyPr/>
              <a:lstStyle/>
              <a:p>
                <a:pPr>
                  <a:defRPr b="0" i="0" strike="noStrike" sz="1100" u="none">
                    <a:solidFill>
                      <a:srgbClr val="404040"/>
                    </a:solidFill>
                    <a:latin typeface="+mn-lt"/>
                  </a:defRPr>
                </a:pPr>
              </a:p>
            </c:txPr>
            <c:dLblPos val="t"/>
            <c:showLegendKey val="0"/>
            <c:showVal val="1"/>
            <c:showCatName val="0"/>
            <c:showSerName val="0"/>
            <c:showPercent val="0"/>
            <c:showBubbleSize val="0"/>
            <c:showLeaderLines val="0"/>
          </c:dLbls>
          <c:marker>
            <c:symbol val="circle"/>
            <c:size val="7"/>
            <c:spPr>
              <a:solidFill>
                <a:srgbClr val="A6A6A6"/>
              </a:solidFill>
              <a:ln w="9525" cap="flat">
                <a:solidFill>
                  <a:srgbClr val="A6A6A6"/>
                </a:solidFill>
                <a:prstDash val="solid"/>
                <a:round/>
              </a:ln>
              <a:effectLst/>
            </c:spPr>
          </c:marker>
          <c:cat>
            <c:multiLvlStrRef>
              <c:f>Sheet1!$A$2:$A$5</c:f>
              <c:multiLvlStrCache>
                <c:ptCount val="4"/>
                <c:lvl>
                  <c:pt idx="0">
                    <c:v>Winter</c:v>
                  </c:pt>
                  <c:pt idx="1">
                    <c:v>Spring</c:v>
                  </c:pt>
                  <c:pt idx="2">
                    <c:v>Summer</c:v>
                  </c:pt>
                  <c:pt idx="3">
                    <c:v>Autumn</c:v>
                  </c:pt>
                </c:lvl>
              </c:multiLvlStrCache>
            </c:multiLvlStrRef>
          </c:cat>
          <c:val>
            <c:numRef>
              <c:f>Sheet1!$B$2:$B$5</c:f>
              <c:numCache>
                <c:formatCode>General</c:formatCode>
                <c:ptCount val="4"/>
                <c:pt idx="0">
                  <c:v>12.2</c:v>
                </c:pt>
                <c:pt idx="1">
                  <c:v>-4</c:v>
                </c:pt>
                <c:pt idx="2">
                  <c:v>2.3</c:v>
                </c:pt>
                <c:pt idx="3">
                  <c:v>11</c:v>
                </c:pt>
              </c:numCache>
            </c:numRef>
          </c:val>
          <c:smooth val="0"/>
        </c:ser>
        <c:ser>
          <c:idx val="1"/>
          <c:order val="1"/>
          <c:tx>
            <c:strRef>
              <c:f>Sheet1!$C$1</c:f>
              <c:strCache>
                <c:ptCount val="1"/>
                <c:pt idx="0">
                  <c:v>After adjustment</c:v>
                </c:pt>
              </c:strCache>
            </c:strRef>
          </c:tx>
          <c:spPr>
            <a:solidFill>
              <a:srgbClr val="1F4E79"/>
            </a:solidFill>
            <a:ln w="25400" cap="flat">
              <a:solidFill>
                <a:srgbClr val="1F4E79"/>
              </a:solidFill>
              <a:prstDash val="solid"/>
              <a:round/>
            </a:ln>
            <a:effectLst/>
          </c:spPr>
          <c:invertIfNegative val="0"/>
          <c:dLbls>
            <c:numFmt formatCode="0" sourceLinked="0"/>
            <c:txPr>
              <a:bodyPr/>
              <a:lstStyle/>
              <a:p>
                <a:pPr>
                  <a:defRPr b="0" i="0" strike="noStrike" sz="1100" u="none">
                    <a:solidFill>
                      <a:srgbClr val="404040"/>
                    </a:solidFill>
                    <a:latin typeface="+mn-lt"/>
                  </a:defRPr>
                </a:pPr>
              </a:p>
            </c:txPr>
            <c:dLblPos val="t"/>
            <c:showLegendKey val="0"/>
            <c:showVal val="1"/>
            <c:showCatName val="0"/>
            <c:showSerName val="0"/>
            <c:showPercent val="0"/>
            <c:showBubbleSize val="0"/>
            <c:showLeaderLines val="0"/>
          </c:dLbls>
          <c:marker>
            <c:symbol val="circle"/>
            <c:size val="7"/>
            <c:spPr>
              <a:solidFill>
                <a:srgbClr val="1F4E79"/>
              </a:solidFill>
              <a:ln w="9525" cap="flat">
                <a:solidFill>
                  <a:srgbClr val="1F4E79"/>
                </a:solidFill>
                <a:prstDash val="solid"/>
                <a:round/>
              </a:ln>
              <a:effectLst/>
            </c:spPr>
          </c:marker>
          <c:cat>
            <c:multiLvlStrRef>
              <c:f>Sheet1!$A$2:$A$5</c:f>
              <c:multiLvlStrCache>
                <c:ptCount val="4"/>
                <c:lvl>
                  <c:pt idx="0">
                    <c:v>Winter</c:v>
                  </c:pt>
                  <c:pt idx="1">
                    <c:v>Spring</c:v>
                  </c:pt>
                  <c:pt idx="2">
                    <c:v>Summer</c:v>
                  </c:pt>
                  <c:pt idx="3">
                    <c:v>Autumn</c:v>
                  </c:pt>
                </c:lvl>
              </c:multiLvlStrCache>
            </c:multiLvlStrRef>
          </c:cat>
          <c:val>
            <c:numRef>
              <c:f>Sheet1!$C$2:$C$5</c:f>
              <c:numCache>
                <c:formatCode>General</c:formatCode>
                <c:ptCount val="4"/>
                <c:pt idx="0">
                  <c:v>4.7</c:v>
                </c:pt>
                <c:pt idx="1">
                  <c:v>-9.9</c:v>
                </c:pt>
                <c:pt idx="2">
                  <c:v>-4</c:v>
                </c:pt>
                <c:pt idx="3">
                  <c:v>4.1</c:v>
                </c:pt>
              </c:numCache>
            </c:numRef>
          </c:val>
          <c:smooth val="0"/>
        </c:ser>
        <c:dLbls>
          <c:numFmt formatCode="0" sourceLinked="0"/>
          <c:txPr>
            <a:bodyPr/>
            <a:lstStyle/>
            <a:p>
              <a:pPr>
                <a:defRPr b="0" i="0" strike="noStrike" sz="1100" u="none">
                  <a:solidFill>
                    <a:srgbClr val="404040"/>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50"/>
          <c:min val="-10"/>
        </c:scaling>
        <c:delete val="0"/>
        <c:axPos val="l"/>
        <c:majorGridlines>
          <c:spPr>
            <a:ln w="9525" cap="flat">
              <a:solidFill>
                <a:srgbClr val="E3E3E3"/>
              </a:solidFill>
              <a:prstDash val="solid"/>
              <a:round/>
            </a:ln>
          </c:spPr>
        </c:majorGridlines>
        <c:title>
          <c:tx>
            <c:rich>
              <a:bodyPr/>
              <a:lstStyle/>
              <a:p>
                <a:pPr>
                  <a:defRPr sz="1100" b="0" i="0" u="none" strike="noStrike">
                    <a:solidFill>
                      <a:srgbClr val="404040"/>
                    </a:solidFill>
                    <a:latin typeface="+mn-lt"/>
                  </a:defRPr>
                </a:pPr>
                <a:r>
                  <a:rPr sz="1100" b="0" i="0" u="none" strike="noStrike">
                    <a:solidFill>
                      <a:srgbClr val="404040"/>
                    </a:solidFill>
                    <a:latin typeface="+mn-lt"/>
                  </a:rPr>
                  <a:t>% DS1 reads lower than DS2</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04040"/>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40404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Monthly median chlorophyll, 2018–2024 (mg m⁻³). DS1 starts Jun 2020; DS2 ends May 2022</a:t>
            </a:r>
          </a:p>
        </c:rich>
      </c:tx>
      <c:layout/>
      <c:overlay val="0"/>
    </c:title>
    <c:autoTitleDeleted val="0"/>
    <c:plotArea>
      <c:layout/>
      <c:lineChart>
        <c:varyColors val="0"/>
        <c:ser>
          <c:idx val="0"/>
          <c:order val="0"/>
          <c:tx>
            <c:strRef>
              <c:f>Sheet1!$B$1</c:f>
              <c:strCache>
                <c:ptCount val="1"/>
                <c:pt idx="0">
                  <c:v>Merged (DS2 adjusted)</c:v>
                </c:pt>
              </c:strCache>
            </c:strRef>
          </c:tx>
          <c:spPr>
            <a:solidFill>
              <a:srgbClr val="1F4E79"/>
            </a:solidFill>
            <a:ln w="25400" cap="flat">
              <a:solidFill>
                <a:srgbClr val="1F4E7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7"/>
            <c:spPr>
              <a:solidFill>
                <a:srgbClr val="1F4E79"/>
              </a:solidFill>
              <a:ln w="9525" cap="flat">
                <a:solidFill>
                  <a:srgbClr val="1F4E79"/>
                </a:solidFill>
                <a:prstDash val="solid"/>
                <a:round/>
              </a:ln>
              <a:effectLst/>
            </c:spPr>
          </c:marker>
          <c:cat>
            <c:multiLvlStrRef>
              <c:f>Sheet1!$A$2:$A$85</c:f>
              <c:multiLvlStrCache>
                <c:ptCount val="84"/>
                <c:lvl>
                  <c:pt idx="0">
                    <c:v>2018-01</c:v>
                  </c:pt>
                  <c:pt idx="1">
                    <c:v>2018-02</c:v>
                  </c:pt>
                  <c:pt idx="2">
                    <c:v>2018-03</c:v>
                  </c:pt>
                  <c:pt idx="3">
                    <c:v>2018-04</c:v>
                  </c:pt>
                  <c:pt idx="4">
                    <c:v>2018-05</c:v>
                  </c:pt>
                  <c:pt idx="5">
                    <c:v>2018-06</c:v>
                  </c:pt>
                  <c:pt idx="6">
                    <c:v>2018-07</c:v>
                  </c:pt>
                  <c:pt idx="7">
                    <c:v>2018-08</c:v>
                  </c:pt>
                  <c:pt idx="8">
                    <c:v>2018-09</c:v>
                  </c:pt>
                  <c:pt idx="9">
                    <c:v>2018-10</c:v>
                  </c:pt>
                  <c:pt idx="10">
                    <c:v>2018-11</c:v>
                  </c:pt>
                  <c:pt idx="11">
                    <c:v>2018-12</c:v>
                  </c:pt>
                  <c:pt idx="12">
                    <c:v>2019-01</c:v>
                  </c:pt>
                  <c:pt idx="13">
                    <c:v>2019-02</c:v>
                  </c:pt>
                  <c:pt idx="14">
                    <c:v>2019-03</c:v>
                  </c:pt>
                  <c:pt idx="15">
                    <c:v>2019-04</c:v>
                  </c:pt>
                  <c:pt idx="16">
                    <c:v>2019-05</c:v>
                  </c:pt>
                  <c:pt idx="17">
                    <c:v>2019-06</c:v>
                  </c:pt>
                  <c:pt idx="18">
                    <c:v>2019-07</c:v>
                  </c:pt>
                  <c:pt idx="19">
                    <c:v>2019-08</c:v>
                  </c:pt>
                  <c:pt idx="20">
                    <c:v>2019-09</c:v>
                  </c:pt>
                  <c:pt idx="21">
                    <c:v>2019-10</c:v>
                  </c:pt>
                  <c:pt idx="22">
                    <c:v>2019-11</c:v>
                  </c:pt>
                  <c:pt idx="23">
                    <c:v>2019-12</c:v>
                  </c:pt>
                  <c:pt idx="24">
                    <c:v>2020-01</c:v>
                  </c:pt>
                  <c:pt idx="25">
                    <c:v>2020-02</c:v>
                  </c:pt>
                  <c:pt idx="26">
                    <c:v>2020-03</c:v>
                  </c:pt>
                  <c:pt idx="27">
                    <c:v>2020-04</c:v>
                  </c:pt>
                  <c:pt idx="28">
                    <c:v>2020-05</c:v>
                  </c:pt>
                  <c:pt idx="29">
                    <c:v>2020-06</c:v>
                  </c:pt>
                  <c:pt idx="30">
                    <c:v>2020-07</c:v>
                  </c:pt>
                  <c:pt idx="31">
                    <c:v>2020-08</c:v>
                  </c:pt>
                  <c:pt idx="32">
                    <c:v>2020-09</c:v>
                  </c:pt>
                  <c:pt idx="33">
                    <c:v>2020-10</c:v>
                  </c:pt>
                  <c:pt idx="34">
                    <c:v>2020-11</c:v>
                  </c:pt>
                  <c:pt idx="35">
                    <c:v>2020-12</c:v>
                  </c:pt>
                  <c:pt idx="36">
                    <c:v>2021-01</c:v>
                  </c:pt>
                  <c:pt idx="37">
                    <c:v>2021-02</c:v>
                  </c:pt>
                  <c:pt idx="38">
                    <c:v>2021-03</c:v>
                  </c:pt>
                  <c:pt idx="39">
                    <c:v>2021-04</c:v>
                  </c:pt>
                  <c:pt idx="40">
                    <c:v>2021-05</c:v>
                  </c:pt>
                  <c:pt idx="41">
                    <c:v>2021-06</c:v>
                  </c:pt>
                  <c:pt idx="42">
                    <c:v>2021-07</c:v>
                  </c:pt>
                  <c:pt idx="43">
                    <c:v>2021-08</c:v>
                  </c:pt>
                  <c:pt idx="44">
                    <c:v>2021-09</c:v>
                  </c:pt>
                  <c:pt idx="45">
                    <c:v>2021-10</c:v>
                  </c:pt>
                  <c:pt idx="46">
                    <c:v>2021-11</c:v>
                  </c:pt>
                  <c:pt idx="47">
                    <c:v>2021-12</c:v>
                  </c:pt>
                  <c:pt idx="48">
                    <c:v>2022-01</c:v>
                  </c:pt>
                  <c:pt idx="49">
                    <c:v>2022-02</c:v>
                  </c:pt>
                  <c:pt idx="50">
                    <c:v>2022-03</c:v>
                  </c:pt>
                  <c:pt idx="51">
                    <c:v>2022-04</c:v>
                  </c:pt>
                  <c:pt idx="52">
                    <c:v>2022-05</c:v>
                  </c:pt>
                  <c:pt idx="53">
                    <c:v>2022-06</c:v>
                  </c:pt>
                  <c:pt idx="54">
                    <c:v>2022-07</c:v>
                  </c:pt>
                  <c:pt idx="55">
                    <c:v>2022-08</c:v>
                  </c:pt>
                  <c:pt idx="56">
                    <c:v>2022-09</c:v>
                  </c:pt>
                  <c:pt idx="57">
                    <c:v>2022-10</c:v>
                  </c:pt>
                  <c:pt idx="58">
                    <c:v>2022-11</c:v>
                  </c:pt>
                  <c:pt idx="59">
                    <c:v>2022-12</c:v>
                  </c:pt>
                  <c:pt idx="60">
                    <c:v>2023-01</c:v>
                  </c:pt>
                  <c:pt idx="61">
                    <c:v>2023-02</c:v>
                  </c:pt>
                  <c:pt idx="62">
                    <c:v>2023-03</c:v>
                  </c:pt>
                  <c:pt idx="63">
                    <c:v>2023-04</c:v>
                  </c:pt>
                  <c:pt idx="64">
                    <c:v>2023-05</c:v>
                  </c:pt>
                  <c:pt idx="65">
                    <c:v>2023-06</c:v>
                  </c:pt>
                  <c:pt idx="66">
                    <c:v>2023-07</c:v>
                  </c:pt>
                  <c:pt idx="67">
                    <c:v>2023-08</c:v>
                  </c:pt>
                  <c:pt idx="68">
                    <c:v>2023-09</c:v>
                  </c:pt>
                  <c:pt idx="69">
                    <c:v>2023-10</c:v>
                  </c:pt>
                  <c:pt idx="70">
                    <c:v>2023-11</c:v>
                  </c:pt>
                  <c:pt idx="71">
                    <c:v>2023-12</c:v>
                  </c:pt>
                  <c:pt idx="72">
                    <c:v>2024-01</c:v>
                  </c:pt>
                  <c:pt idx="73">
                    <c:v>2024-02</c:v>
                  </c:pt>
                  <c:pt idx="74">
                    <c:v>2024-03</c:v>
                  </c:pt>
                  <c:pt idx="75">
                    <c:v>2024-04</c:v>
                  </c:pt>
                  <c:pt idx="76">
                    <c:v>2024-05</c:v>
                  </c:pt>
                  <c:pt idx="77">
                    <c:v>2024-06</c:v>
                  </c:pt>
                  <c:pt idx="78">
                    <c:v>2024-07</c:v>
                  </c:pt>
                  <c:pt idx="79">
                    <c:v>2024-08</c:v>
                  </c:pt>
                  <c:pt idx="80">
                    <c:v>2024-09</c:v>
                  </c:pt>
                  <c:pt idx="81">
                    <c:v>2024-10</c:v>
                  </c:pt>
                  <c:pt idx="82">
                    <c:v>2024-11</c:v>
                  </c:pt>
                  <c:pt idx="83">
                    <c:v>2024-12</c:v>
                  </c:pt>
                </c:lvl>
              </c:multiLvlStrCache>
            </c:multiLvlStrRef>
          </c:cat>
          <c:val>
            <c:numRef>
              <c:f>Sheet1!$B$2:$B$85</c:f>
              <c:numCache>
                <c:formatCode>General</c:formatCode>
                <c:ptCount val="84"/>
                <c:pt idx="0">
                  <c:v>0.71</c:v>
                </c:pt>
                <c:pt idx="1">
                  <c:v>0.237</c:v>
                </c:pt>
                <c:pt idx="2">
                  <c:v>0.259</c:v>
                </c:pt>
                <c:pt idx="3">
                  <c:v>0.223</c:v>
                </c:pt>
                <c:pt idx="4">
                  <c:v>0.19</c:v>
                </c:pt>
                <c:pt idx="5">
                  <c:v>0.232</c:v>
                </c:pt>
                <c:pt idx="6">
                  <c:v>0.263</c:v>
                </c:pt>
                <c:pt idx="7">
                  <c:v>0.244</c:v>
                </c:pt>
                <c:pt idx="8">
                  <c:v>0.373</c:v>
                </c:pt>
                <c:pt idx="9">
                  <c:v>0.364</c:v>
                </c:pt>
                <c:pt idx="10">
                  <c:v>0.655</c:v>
                </c:pt>
                <c:pt idx="11">
                  <c:v>0.753</c:v>
                </c:pt>
                <c:pt idx="12">
                  <c:v>0.576</c:v>
                </c:pt>
                <c:pt idx="13">
                  <c:v>0.345</c:v>
                </c:pt>
                <c:pt idx="14">
                  <c:v>0.3</c:v>
                </c:pt>
                <c:pt idx="15">
                  <c:v>0.286</c:v>
                </c:pt>
                <c:pt idx="16">
                  <c:v>0.218</c:v>
                </c:pt>
                <c:pt idx="17">
                  <c:v>0.195</c:v>
                </c:pt>
                <c:pt idx="18">
                  <c:v>0.249</c:v>
                </c:pt>
                <c:pt idx="19">
                  <c:v>0.289</c:v>
                </c:pt>
                <c:pt idx="20">
                  <c:v>0.438</c:v>
                </c:pt>
                <c:pt idx="21">
                  <c:v>0.501</c:v>
                </c:pt>
                <c:pt idx="22">
                  <c:v>0.925</c:v>
                </c:pt>
                <c:pt idx="23">
                  <c:v>0.553</c:v>
                </c:pt>
                <c:pt idx="24">
                  <c:v>0.483</c:v>
                </c:pt>
                <c:pt idx="25">
                  <c:v>0.355</c:v>
                </c:pt>
                <c:pt idx="26">
                  <c:v>0.227</c:v>
                </c:pt>
                <c:pt idx="27">
                  <c:v>0.207</c:v>
                </c:pt>
                <c:pt idx="28">
                  <c:v>0.23</c:v>
                </c:pt>
                <c:pt idx="29">
                  <c:v>0.245</c:v>
                </c:pt>
                <c:pt idx="30">
                  <c:v>0.301</c:v>
                </c:pt>
                <c:pt idx="31">
                  <c:v>0.282</c:v>
                </c:pt>
                <c:pt idx="32">
                  <c:v>0.596</c:v>
                </c:pt>
                <c:pt idx="33">
                  <c:v>0.83</c:v>
                </c:pt>
                <c:pt idx="34">
                  <c:v>1.059</c:v>
                </c:pt>
                <c:pt idx="35">
                  <c:v>0.928</c:v>
                </c:pt>
                <c:pt idx="36">
                  <c:v>0.636</c:v>
                </c:pt>
                <c:pt idx="37">
                  <c:v>0.403</c:v>
                </c:pt>
                <c:pt idx="38">
                  <c:v>0.332</c:v>
                </c:pt>
                <c:pt idx="39">
                  <c:v>0.312</c:v>
                </c:pt>
                <c:pt idx="40">
                  <c:v>0.285</c:v>
                </c:pt>
                <c:pt idx="41">
                  <c:v>0.282</c:v>
                </c:pt>
                <c:pt idx="42">
                  <c:v>0.357</c:v>
                </c:pt>
                <c:pt idx="43">
                  <c:v>0.446</c:v>
                </c:pt>
                <c:pt idx="44">
                  <c:v>0.587</c:v>
                </c:pt>
                <c:pt idx="45">
                  <c:v>0.809</c:v>
                </c:pt>
                <c:pt idx="46">
                  <c:v>1.017</c:v>
                </c:pt>
                <c:pt idx="47">
                  <c:v>0.66</c:v>
                </c:pt>
                <c:pt idx="48">
                  <c:v>1.178</c:v>
                </c:pt>
                <c:pt idx="49">
                  <c:v>0.532</c:v>
                </c:pt>
                <c:pt idx="50">
                  <c:v>0.524</c:v>
                </c:pt>
                <c:pt idx="51">
                  <c:v>0.329</c:v>
                </c:pt>
                <c:pt idx="52">
                  <c:v>0.238</c:v>
                </c:pt>
                <c:pt idx="53">
                  <c:v>0.285</c:v>
                </c:pt>
                <c:pt idx="54">
                  <c:v>0.708</c:v>
                </c:pt>
                <c:pt idx="55">
                  <c:v>1.253</c:v>
                </c:pt>
                <c:pt idx="56">
                  <c:v>1.176</c:v>
                </c:pt>
                <c:pt idx="57">
                  <c:v>1.156</c:v>
                </c:pt>
                <c:pt idx="58">
                  <c:v>0.737</c:v>
                </c:pt>
                <c:pt idx="59">
                  <c:v>0.71</c:v>
                </c:pt>
                <c:pt idx="60">
                  <c:v>0.504</c:v>
                </c:pt>
                <c:pt idx="61">
                  <c:v>0.474</c:v>
                </c:pt>
                <c:pt idx="62">
                  <c:v>0.379</c:v>
                </c:pt>
                <c:pt idx="63">
                  <c:v>0.343</c:v>
                </c:pt>
                <c:pt idx="64">
                  <c:v>0.435</c:v>
                </c:pt>
                <c:pt idx="65">
                  <c:v>0.395</c:v>
                </c:pt>
                <c:pt idx="66">
                  <c:v>0.6</c:v>
                </c:pt>
                <c:pt idx="67">
                  <c:v>1.035</c:v>
                </c:pt>
                <c:pt idx="68">
                  <c:v>1.05</c:v>
                </c:pt>
                <c:pt idx="69">
                  <c:v>0.675</c:v>
                </c:pt>
                <c:pt idx="70">
                  <c:v>0.57</c:v>
                </c:pt>
                <c:pt idx="71">
                  <c:v>0.891</c:v>
                </c:pt>
                <c:pt idx="72">
                  <c:v>0.578</c:v>
                </c:pt>
                <c:pt idx="73">
                  <c:v>0.498</c:v>
                </c:pt>
                <c:pt idx="74">
                  <c:v>0.335</c:v>
                </c:pt>
                <c:pt idx="75">
                  <c:v>0.339</c:v>
                </c:pt>
                <c:pt idx="76">
                  <c:v>0.273</c:v>
                </c:pt>
                <c:pt idx="77">
                  <c:v>0.307</c:v>
                </c:pt>
                <c:pt idx="78">
                  <c:v>0.431</c:v>
                </c:pt>
                <c:pt idx="79">
                  <c:v>1.134</c:v>
                </c:pt>
                <c:pt idx="80">
                  <c:v>1.305</c:v>
                </c:pt>
                <c:pt idx="81">
                  <c:v>2.574</c:v>
                </c:pt>
                <c:pt idx="82">
                  <c:v>1.175</c:v>
                </c:pt>
                <c:pt idx="83">
                  <c:v>1.017</c:v>
                </c:pt>
              </c:numCache>
            </c:numRef>
          </c:val>
          <c:smooth val="0"/>
        </c:ser>
        <c:ser>
          <c:idx val="1"/>
          <c:order val="1"/>
          <c:tx>
            <c:strRef>
              <c:f>Sheet1!$C$1</c:f>
              <c:strCache>
                <c:ptCount val="1"/>
                <c:pt idx="0">
                  <c:v>DS2 not adjusted</c:v>
                </c:pt>
              </c:strCache>
            </c:strRef>
          </c:tx>
          <c:spPr>
            <a:solidFill>
              <a:srgbClr val="A6A6A6"/>
            </a:solidFill>
            <a:ln w="25400"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7"/>
            <c:spPr>
              <a:solidFill>
                <a:srgbClr val="A6A6A6"/>
              </a:solidFill>
              <a:ln w="9525" cap="flat">
                <a:solidFill>
                  <a:srgbClr val="A6A6A6"/>
                </a:solidFill>
                <a:prstDash val="solid"/>
                <a:round/>
              </a:ln>
              <a:effectLst/>
            </c:spPr>
          </c:marker>
          <c:cat>
            <c:multiLvlStrRef>
              <c:f>Sheet1!$A$2:$A$85</c:f>
              <c:multiLvlStrCache>
                <c:ptCount val="84"/>
                <c:lvl>
                  <c:pt idx="0">
                    <c:v>2018-01</c:v>
                  </c:pt>
                  <c:pt idx="1">
                    <c:v>2018-02</c:v>
                  </c:pt>
                  <c:pt idx="2">
                    <c:v>2018-03</c:v>
                  </c:pt>
                  <c:pt idx="3">
                    <c:v>2018-04</c:v>
                  </c:pt>
                  <c:pt idx="4">
                    <c:v>2018-05</c:v>
                  </c:pt>
                  <c:pt idx="5">
                    <c:v>2018-06</c:v>
                  </c:pt>
                  <c:pt idx="6">
                    <c:v>2018-07</c:v>
                  </c:pt>
                  <c:pt idx="7">
                    <c:v>2018-08</c:v>
                  </c:pt>
                  <c:pt idx="8">
                    <c:v>2018-09</c:v>
                  </c:pt>
                  <c:pt idx="9">
                    <c:v>2018-10</c:v>
                  </c:pt>
                  <c:pt idx="10">
                    <c:v>2018-11</c:v>
                  </c:pt>
                  <c:pt idx="11">
                    <c:v>2018-12</c:v>
                  </c:pt>
                  <c:pt idx="12">
                    <c:v>2019-01</c:v>
                  </c:pt>
                  <c:pt idx="13">
                    <c:v>2019-02</c:v>
                  </c:pt>
                  <c:pt idx="14">
                    <c:v>2019-03</c:v>
                  </c:pt>
                  <c:pt idx="15">
                    <c:v>2019-04</c:v>
                  </c:pt>
                  <c:pt idx="16">
                    <c:v>2019-05</c:v>
                  </c:pt>
                  <c:pt idx="17">
                    <c:v>2019-06</c:v>
                  </c:pt>
                  <c:pt idx="18">
                    <c:v>2019-07</c:v>
                  </c:pt>
                  <c:pt idx="19">
                    <c:v>2019-08</c:v>
                  </c:pt>
                  <c:pt idx="20">
                    <c:v>2019-09</c:v>
                  </c:pt>
                  <c:pt idx="21">
                    <c:v>2019-10</c:v>
                  </c:pt>
                  <c:pt idx="22">
                    <c:v>2019-11</c:v>
                  </c:pt>
                  <c:pt idx="23">
                    <c:v>2019-12</c:v>
                  </c:pt>
                  <c:pt idx="24">
                    <c:v>2020-01</c:v>
                  </c:pt>
                  <c:pt idx="25">
                    <c:v>2020-02</c:v>
                  </c:pt>
                  <c:pt idx="26">
                    <c:v>2020-03</c:v>
                  </c:pt>
                  <c:pt idx="27">
                    <c:v>2020-04</c:v>
                  </c:pt>
                  <c:pt idx="28">
                    <c:v>2020-05</c:v>
                  </c:pt>
                  <c:pt idx="29">
                    <c:v>2020-06</c:v>
                  </c:pt>
                  <c:pt idx="30">
                    <c:v>2020-07</c:v>
                  </c:pt>
                  <c:pt idx="31">
                    <c:v>2020-08</c:v>
                  </c:pt>
                  <c:pt idx="32">
                    <c:v>2020-09</c:v>
                  </c:pt>
                  <c:pt idx="33">
                    <c:v>2020-10</c:v>
                  </c:pt>
                  <c:pt idx="34">
                    <c:v>2020-11</c:v>
                  </c:pt>
                  <c:pt idx="35">
                    <c:v>2020-12</c:v>
                  </c:pt>
                  <c:pt idx="36">
                    <c:v>2021-01</c:v>
                  </c:pt>
                  <c:pt idx="37">
                    <c:v>2021-02</c:v>
                  </c:pt>
                  <c:pt idx="38">
                    <c:v>2021-03</c:v>
                  </c:pt>
                  <c:pt idx="39">
                    <c:v>2021-04</c:v>
                  </c:pt>
                  <c:pt idx="40">
                    <c:v>2021-05</c:v>
                  </c:pt>
                  <c:pt idx="41">
                    <c:v>2021-06</c:v>
                  </c:pt>
                  <c:pt idx="42">
                    <c:v>2021-07</c:v>
                  </c:pt>
                  <c:pt idx="43">
                    <c:v>2021-08</c:v>
                  </c:pt>
                  <c:pt idx="44">
                    <c:v>2021-09</c:v>
                  </c:pt>
                  <c:pt idx="45">
                    <c:v>2021-10</c:v>
                  </c:pt>
                  <c:pt idx="46">
                    <c:v>2021-11</c:v>
                  </c:pt>
                  <c:pt idx="47">
                    <c:v>2021-12</c:v>
                  </c:pt>
                  <c:pt idx="48">
                    <c:v>2022-01</c:v>
                  </c:pt>
                  <c:pt idx="49">
                    <c:v>2022-02</c:v>
                  </c:pt>
                  <c:pt idx="50">
                    <c:v>2022-03</c:v>
                  </c:pt>
                  <c:pt idx="51">
                    <c:v>2022-04</c:v>
                  </c:pt>
                  <c:pt idx="52">
                    <c:v>2022-05</c:v>
                  </c:pt>
                  <c:pt idx="53">
                    <c:v>2022-06</c:v>
                  </c:pt>
                  <c:pt idx="54">
                    <c:v>2022-07</c:v>
                  </c:pt>
                  <c:pt idx="55">
                    <c:v>2022-08</c:v>
                  </c:pt>
                  <c:pt idx="56">
                    <c:v>2022-09</c:v>
                  </c:pt>
                  <c:pt idx="57">
                    <c:v>2022-10</c:v>
                  </c:pt>
                  <c:pt idx="58">
                    <c:v>2022-11</c:v>
                  </c:pt>
                  <c:pt idx="59">
                    <c:v>2022-12</c:v>
                  </c:pt>
                  <c:pt idx="60">
                    <c:v>2023-01</c:v>
                  </c:pt>
                  <c:pt idx="61">
                    <c:v>2023-02</c:v>
                  </c:pt>
                  <c:pt idx="62">
                    <c:v>2023-03</c:v>
                  </c:pt>
                  <c:pt idx="63">
                    <c:v>2023-04</c:v>
                  </c:pt>
                  <c:pt idx="64">
                    <c:v>2023-05</c:v>
                  </c:pt>
                  <c:pt idx="65">
                    <c:v>2023-06</c:v>
                  </c:pt>
                  <c:pt idx="66">
                    <c:v>2023-07</c:v>
                  </c:pt>
                  <c:pt idx="67">
                    <c:v>2023-08</c:v>
                  </c:pt>
                  <c:pt idx="68">
                    <c:v>2023-09</c:v>
                  </c:pt>
                  <c:pt idx="69">
                    <c:v>2023-10</c:v>
                  </c:pt>
                  <c:pt idx="70">
                    <c:v>2023-11</c:v>
                  </c:pt>
                  <c:pt idx="71">
                    <c:v>2023-12</c:v>
                  </c:pt>
                  <c:pt idx="72">
                    <c:v>2024-01</c:v>
                  </c:pt>
                  <c:pt idx="73">
                    <c:v>2024-02</c:v>
                  </c:pt>
                  <c:pt idx="74">
                    <c:v>2024-03</c:v>
                  </c:pt>
                  <c:pt idx="75">
                    <c:v>2024-04</c:v>
                  </c:pt>
                  <c:pt idx="76">
                    <c:v>2024-05</c:v>
                  </c:pt>
                  <c:pt idx="77">
                    <c:v>2024-06</c:v>
                  </c:pt>
                  <c:pt idx="78">
                    <c:v>2024-07</c:v>
                  </c:pt>
                  <c:pt idx="79">
                    <c:v>2024-08</c:v>
                  </c:pt>
                  <c:pt idx="80">
                    <c:v>2024-09</c:v>
                  </c:pt>
                  <c:pt idx="81">
                    <c:v>2024-10</c:v>
                  </c:pt>
                  <c:pt idx="82">
                    <c:v>2024-11</c:v>
                  </c:pt>
                  <c:pt idx="83">
                    <c:v>2024-12</c:v>
                  </c:pt>
                </c:lvl>
              </c:multiLvlStrCache>
            </c:multiLvlStrRef>
          </c:cat>
          <c:val>
            <c:numRef>
              <c:f>Sheet1!$C$2:$C$85</c:f>
              <c:numCache>
                <c:formatCode>General</c:formatCode>
                <c:ptCount val="84"/>
                <c:pt idx="0">
                  <c:v>0.752</c:v>
                </c:pt>
                <c:pt idx="1">
                  <c:v>0.273</c:v>
                </c:pt>
                <c:pt idx="2">
                  <c:v>0.298</c:v>
                </c:pt>
                <c:pt idx="3">
                  <c:v>0.256</c:v>
                </c:pt>
                <c:pt idx="4">
                  <c:v>0.204</c:v>
                </c:pt>
                <c:pt idx="5">
                  <c:v>0.266</c:v>
                </c:pt>
                <c:pt idx="6">
                  <c:v>0.303</c:v>
                </c:pt>
                <c:pt idx="7">
                  <c:v>0.281</c:v>
                </c:pt>
                <c:pt idx="8">
                  <c:v>0.411</c:v>
                </c:pt>
                <c:pt idx="9">
                  <c:v>0.403</c:v>
                </c:pt>
                <c:pt idx="10">
                  <c:v>0.688</c:v>
                </c:pt>
                <c:pt idx="11">
                  <c:v>0.804</c:v>
                </c:pt>
                <c:pt idx="12">
                  <c:v>0.598</c:v>
                </c:pt>
                <c:pt idx="13">
                  <c:v>0.385</c:v>
                </c:pt>
                <c:pt idx="14">
                  <c:v>0.342</c:v>
                </c:pt>
                <c:pt idx="15">
                  <c:v>0.327</c:v>
                </c:pt>
                <c:pt idx="16">
                  <c:v>0.249</c:v>
                </c:pt>
                <c:pt idx="17">
                  <c:v>0.213</c:v>
                </c:pt>
                <c:pt idx="18">
                  <c:v>0.286</c:v>
                </c:pt>
                <c:pt idx="19">
                  <c:v>0.331</c:v>
                </c:pt>
                <c:pt idx="20">
                  <c:v>0.468</c:v>
                </c:pt>
                <c:pt idx="21">
                  <c:v>0.525</c:v>
                </c:pt>
                <c:pt idx="22">
                  <c:v>1.013</c:v>
                </c:pt>
                <c:pt idx="23">
                  <c:v>0.575</c:v>
                </c:pt>
                <c:pt idx="24">
                  <c:v>0.509</c:v>
                </c:pt>
                <c:pt idx="25">
                  <c:v>0.395</c:v>
                </c:pt>
                <c:pt idx="26">
                  <c:v>0.26</c:v>
                </c:pt>
                <c:pt idx="27">
                  <c:v>0.233</c:v>
                </c:pt>
                <c:pt idx="28">
                  <c:v>0.264</c:v>
                </c:pt>
                <c:pt idx="29">
                  <c:v>0.261</c:v>
                </c:pt>
                <c:pt idx="30">
                  <c:v>0.317</c:v>
                </c:pt>
                <c:pt idx="31">
                  <c:v>0.3</c:v>
                </c:pt>
                <c:pt idx="32">
                  <c:v>0.605</c:v>
                </c:pt>
                <c:pt idx="33">
                  <c:v>0.851</c:v>
                </c:pt>
                <c:pt idx="34">
                  <c:v>1.085</c:v>
                </c:pt>
                <c:pt idx="35">
                  <c:v>0.946</c:v>
                </c:pt>
                <c:pt idx="36">
                  <c:v>0.646</c:v>
                </c:pt>
                <c:pt idx="37">
                  <c:v>0.414</c:v>
                </c:pt>
                <c:pt idx="38">
                  <c:v>0.342</c:v>
                </c:pt>
                <c:pt idx="39">
                  <c:v>0.325</c:v>
                </c:pt>
                <c:pt idx="40">
                  <c:v>0.301</c:v>
                </c:pt>
                <c:pt idx="41">
                  <c:v>0.293</c:v>
                </c:pt>
                <c:pt idx="42">
                  <c:v>0.379</c:v>
                </c:pt>
                <c:pt idx="43">
                  <c:v>0.457</c:v>
                </c:pt>
                <c:pt idx="44">
                  <c:v>0.592</c:v>
                </c:pt>
                <c:pt idx="45">
                  <c:v>0.815</c:v>
                </c:pt>
                <c:pt idx="46">
                  <c:v>1.024</c:v>
                </c:pt>
                <c:pt idx="47">
                  <c:v>0.668</c:v>
                </c:pt>
                <c:pt idx="48">
                  <c:v>1.191</c:v>
                </c:pt>
                <c:pt idx="49">
                  <c:v>0.537</c:v>
                </c:pt>
                <c:pt idx="50">
                  <c:v>0.53</c:v>
                </c:pt>
                <c:pt idx="51">
                  <c:v>0.336</c:v>
                </c:pt>
                <c:pt idx="52">
                  <c:v>0.25</c:v>
                </c:pt>
                <c:pt idx="53">
                  <c:v>0.285</c:v>
                </c:pt>
                <c:pt idx="54">
                  <c:v>0.708</c:v>
                </c:pt>
                <c:pt idx="55">
                  <c:v>1.253</c:v>
                </c:pt>
                <c:pt idx="56">
                  <c:v>1.176</c:v>
                </c:pt>
                <c:pt idx="57">
                  <c:v>1.156</c:v>
                </c:pt>
                <c:pt idx="58">
                  <c:v>0.737</c:v>
                </c:pt>
                <c:pt idx="59">
                  <c:v>0.71</c:v>
                </c:pt>
                <c:pt idx="60">
                  <c:v>0.504</c:v>
                </c:pt>
                <c:pt idx="61">
                  <c:v>0.474</c:v>
                </c:pt>
                <c:pt idx="62">
                  <c:v>0.379</c:v>
                </c:pt>
                <c:pt idx="63">
                  <c:v>0.343</c:v>
                </c:pt>
                <c:pt idx="64">
                  <c:v>0.435</c:v>
                </c:pt>
                <c:pt idx="65">
                  <c:v>0.395</c:v>
                </c:pt>
                <c:pt idx="66">
                  <c:v>0.6</c:v>
                </c:pt>
                <c:pt idx="67">
                  <c:v>1.035</c:v>
                </c:pt>
                <c:pt idx="68">
                  <c:v>1.05</c:v>
                </c:pt>
                <c:pt idx="69">
                  <c:v>0.675</c:v>
                </c:pt>
                <c:pt idx="70">
                  <c:v>0.57</c:v>
                </c:pt>
                <c:pt idx="71">
                  <c:v>0.891</c:v>
                </c:pt>
                <c:pt idx="72">
                  <c:v>0.578</c:v>
                </c:pt>
                <c:pt idx="73">
                  <c:v>0.498</c:v>
                </c:pt>
                <c:pt idx="74">
                  <c:v>0.335</c:v>
                </c:pt>
                <c:pt idx="75">
                  <c:v>0.339</c:v>
                </c:pt>
                <c:pt idx="76">
                  <c:v>0.273</c:v>
                </c:pt>
                <c:pt idx="77">
                  <c:v>0.307</c:v>
                </c:pt>
                <c:pt idx="78">
                  <c:v>0.431</c:v>
                </c:pt>
                <c:pt idx="79">
                  <c:v>1.134</c:v>
                </c:pt>
                <c:pt idx="80">
                  <c:v>1.305</c:v>
                </c:pt>
                <c:pt idx="81">
                  <c:v>2.574</c:v>
                </c:pt>
                <c:pt idx="82">
                  <c:v>1.175</c:v>
                </c:pt>
                <c:pt idx="83">
                  <c:v>1.017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tickLblSkip val="12"/>
      </c:catAx>
      <c:valAx>
        <c:axId val="2094734552"/>
        <c:scaling>
          <c:orientation val="minMax"/>
          <c:min val="0"/>
        </c:scaling>
        <c:delete val="0"/>
        <c:axPos val="l"/>
        <c:majorGridlines>
          <c:spPr>
            <a:ln w="9525" cap="flat">
              <a:solidFill>
                <a:srgbClr val="E3E3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0404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0404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walk the team through how the two chlorophyll files were compared and merged, and why each choice was made. Everything shown comes from two notebooks: compare_chlorophyll_datasets.ipynb (the evidence) and merge_chlorophyll.ipynb (the merge). Issue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measurement (chlorophyll-a in mg per cubic metre), same area, different satellite products. The extra altitude column in DS1 is always 0, so it is dropped. The missing share is high because clouds, glint and land remove most pixels on a given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DS2 alone covers 2010 to mid-2020, DS1 alone covers mid-2022 to 2026. The two years in the middle are the only time both exist, so every comparison and the calibration of DS2 uses that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deck takes these one at a time: the problem, the evidence, and the fix. Problems 1 and 2 are about combining the two datasets; 3 and 4 are about cleaning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gap between neighbouring grid points was checked: DS1 is exactly 0.0375 degrees everywhere; DS2 is 1/24 degree, with a few metres of rounding wobble from how the file was saved. So these are two regular grids with different spacing.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DS2 pixels are about 11% bigger, so some DS2 pixels feed two neighbouring DS1 cells (A and B both take P). No new information is created; the coarser picture is laid onto the finer grid. The matching uses scipy's cKDTree on coordinates converted to kilometres. An early version rounded coordinates and produced 57,498 duplicate matches; that bug was found and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has to be pixel by pixel. Comparing daily area-wide medians gives a correlation of only 0.12 and even points the wrong way (DS1 looks higher), because clouds hide different pixels in each dataset on a given day. The two are likely different satellite products (DS1's grid matches NOAA's VIIRS 4 km products, DS2's matches the standard NASA 4 km grid); this is not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Chlorophyll level is grouped by the average of both datasets, so neither one decides which group a pair falls into (grouping by DS2 alone exaggerates the bloom-level gap, grouping by DS1 alone hides it). Multiplying all of DS2 by 0.92 would fix typical water but leave pre-2020 blooms about 1.6 times too high. The bloom-level point rests on fewer pairs, about 1,800.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 et al. (NOAA/USF), Table 1 and section 2: if a pixel is associated with any L3 mask flag, the pixel is not used in the Level-3 composite. Never-valid cells were checked against a 1 km land mask: DS1 100 percent and DS2 97 percent are centred on land, none are pure water. On the map, DS1 sees inside Tampa Bay, Sarasota Bay and Charlotte Harbor on 16 to 28 percent of days, DS2 on only 3 to 6 percent. Rainy season: NWS Tampa Bay, May 15 to Oct 15 for Southwest Florida.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only look backwards in time: interpolating from days after the sample date would leak future information into a forecasting model. Bulgarelli and Zibordi (2018, Remote Sensing of Environment) show land adjacency effects remain detectable tens of kilometres offshore. Houskeeper and Kudela found quality flags hit high-fluorescence (bloom-like) pixels about twice as often; their study was in Monterey Bay, not Florida, so this is a caution rather than a proven effect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NASA algorithm (OCx) is designed for 0.01 to 100 mg per cubic metre, so values below 0.01 are outside its range; DS1 has 7 values at exactly 0.001, the product minimum. Values near 100 likely mean very high chlorophyll with an uncertain exact value, so they are kept with a chl_at_limit flag. On the raw scale the median is about 0.5 but the mean is 1 to 2; after log10 mean and median nearly agree. Winsorizing at the 99th percentile would flatten everything above about 15 to 22 into one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value wins: 2010 to mid-2020 adjusted DS2 only; in the overlap, DS1 wherever it has a value and adjusted DS2 only where DS1 is empty; mid-2022 onwards DS1 only. Quantile mapping: for each percentile 1 to 99, note DS2's value and DS1's value in the overlap, then translate every DS2 value through that table; beyond the 1st and 99th percentile the end offset is carried on rather than extrapolated.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 is the raw gap, blue is after adjustment, on data the adjustment was not fitted on. It closes the gap overall and for typical water, roughly halves it at bloom level, and over-corrects spring (DS2 now reads about 10 percent lower) while under-correcting winter. Quantile mapping matches the overall distributions; it does not force each matched pair to agree. Next options: one table per season, or a paired calibration using the median DS1 value for each DS2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Columns: date, latitude, longitude, chlor_a, log_chl, chlor_a_raw, source, chl_at_limit, coastal. Rows by source: 1.38 million adjusted DS2 before mid-2020; in the overlap 313 thousand from DS1 plus 100 thousand adjusted DS2 filling DS1's gaps; 726 thousand from DS1 after mid-2022. The monthly median mixes whichever cells have data that month, so it wobbles with clouds; the check is that there is no sudden jump in June 2020 or June 2022. Output file: data/processed/chlorophyll_merged.parquet.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block using the merged data, but each should be noted wherever the data is used. The first three can be improved with a per-season or paired calibration and with a gap-filled product; the fourth is why the missing flag will be a feature rather than something to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gap-filled DINEOF product would remove most of the cloud gaps from 2018 onward; check whether it flags filled versus observed values and whether its gap-filling uses future days, which matters for forecasting. No branch in the repo contains any merge, concat or join yet, so the habsos-centred join is a whole-team decision. Running the notebooks needs scipy, pyarrow and global-land-mask; requirements.txt is still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rtlCol="0"/>
          <a:lstStyle>
            <a:lvl1pPr indent="0" marL="0">
              <a:buNone/>
              <a:defRPr lang="en-US" sz="4000" b="1" dirty="0">
                <a:solidFill>
                  <a:schemeClr val="tx1"/>
                </a:solidFill>
              </a:defRPr>
            </a:lvl1pPr>
          </a:lstStyle>
          <a:p>
            <a:pPr indent="0" marL="0">
              <a:buNone/>
            </a:pP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
        <p:nvSpPr>
          <p:cNvPr id="4" name="Text 0"/>
          <p:cNvSpPr/>
          <p:nvPr/>
        </p:nvSpPr>
        <p:spPr>
          <a:xfrm>
            <a:off x="731520" y="5943600"/>
            <a:ext cx="10698480" cy="365760"/>
          </a:xfrm>
          <a:prstGeom prst="rect">
            <a:avLst/>
          </a:prstGeom>
          <a:noFill/>
          <a:ln/>
        </p:spPr>
        <p:txBody>
          <a:bodyPr wrap="square" lIns="0" tIns="0" rIns="0" bIns="0" rtlCol="0" anchor="ctr"/>
          <a:lstStyle/>
          <a:p>
            <a:pPr indent="0" marL="0">
              <a:buNone/>
            </a:pPr>
            <a:r>
              <a:rPr lang="en-US" sz="1400" dirty="0">
                <a:solidFill>
                  <a:schemeClr val="accent2"/>
                </a:solidFill>
              </a:rPr>
              <a:t>Biointerphase 1A · Break Through Tech AI Studio · October 2026</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lIns="0" tIns="0" rIns="0" bIns="0" rtlCol="0" anchor="b"/>
          <a:lstStyle/>
          <a:p>
            <a:pPr indent="0" marL="0">
              <a:buNone/>
            </a:pPr>
            <a:r>
              <a:rPr lang="en-US" sz="4000" b="1" dirty="0">
                <a:solidFill>
                  <a:schemeClr val="tx1"/>
                </a:solidFill>
              </a:rPr>
              <a:t>Merging the Sarasota chlorophyll-a datasets</a:t>
            </a: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lIns="0" tIns="0" rIns="0" bIns="0" rtlCol="0" anchor="t"/>
          <a:lstStyle/>
          <a:p>
            <a:pPr indent="0" marL="0">
              <a:buNone/>
            </a:pPr>
            <a:r>
              <a:rPr lang="en-US" sz="2000" dirty="0">
                <a:solidFill>
                  <a:schemeClr val="accent3"/>
                </a:solidFill>
              </a:rPr>
              <a:t>Two satellite datasets, one consistent daily record from 2010 to 2026: the approach, the evidence behind each step, and the result.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Two satellite datasets measuring the same thing</a:t>
            </a:r>
            <a:endParaRPr lang="en-US" sz="3200" dirty="0"/>
          </a:p>
        </p:txBody>
      </p:sp>
      <p:graphicFrame>
        <p:nvGraphicFramePr>
          <p:cNvPr id="3" name="Dataset comparison"/>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194560"/>
                <a:gridCol w="4448556"/>
                <a:gridCol w="4448556"/>
              </a:tblGrid>
              <a:tr h="457200">
                <a:tc>
                  <a:txBody>
                    <a:bodyPr/>
                    <a:lstStyle/>
                    <a:p>
                      <a:pPr indent="0" marL="0">
                        <a:buNone/>
                      </a:pP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DS1</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DS2</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r>
              <a:tr h="45720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File</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ChlorophyllaConcentrationSarasota.csv</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ChlorophyllaConcentrationSarasota_Dataset2.csv</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Dates</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Jun 2020 → Sep 2026</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Jan 2010 → May 2022</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Grid spacing</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0.0375° (about 4.2 km)</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0.0417° (about 4.6 km)</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Grid cells</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1,886</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1,554</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Rows with no value</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75%</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81%</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Columns</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time, altitude, latitude, longitude, chlor_a</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time, latitude, longitude, chlor_a</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Goal"/>
          <p:cNvSpPr txBox="1"/>
          <p:nvPr/>
        </p:nvSpPr>
        <p:spPr>
          <a:xfrm>
            <a:off x="548640" y="4937760"/>
            <a:ext cx="11091672" cy="731520"/>
          </a:xfrm>
          <a:prstGeom prst="rect">
            <a:avLst/>
          </a:prstGeom>
          <a:noFill/>
          <a:ln/>
        </p:spPr>
        <p:txBody>
          <a:bodyPr wrap="square" lIns="0" tIns="0" rIns="0" bIns="0" rtlCol="0" anchor="t"/>
          <a:lstStyle/>
          <a:p>
            <a:pPr indent="0" marL="0">
              <a:buNone/>
            </a:pPr>
            <a:r>
              <a:rPr lang="en-US" sz="1600" dirty="0">
                <a:solidFill>
                  <a:schemeClr val="tx1"/>
                </a:solidFill>
              </a:rPr>
              <a:t>Both cover the same box off Sarasota (latitude 26.5–28, longitude −83.5 to −81.8). Goal: one daily chlorophyll table for the bloom-risk model.</a:t>
            </a:r>
            <a:endParaRPr lang="en-US" sz="1600" dirty="0"/>
          </a:p>
        </p:txBody>
      </p:sp>
      <p:sp>
        <p:nvSpPr>
          <p:cNvPr id="5" name="Source"/>
          <p:cNvSpPr txBox="1"/>
          <p:nvPr/>
        </p:nvSpPr>
        <p:spPr>
          <a:xfrm>
            <a:off x="548640" y="6355080"/>
            <a:ext cx="10424160" cy="274320"/>
          </a:xfrm>
          <a:prstGeom prst="rect">
            <a:avLst/>
          </a:prstGeom>
          <a:noFill/>
          <a:ln/>
        </p:spPr>
        <p:txBody>
          <a:bodyPr wrap="square" lIns="0" tIns="0" rIns="0" bIns="0" rtlCol="0" anchor="t"/>
          <a:lstStyle/>
          <a:p>
            <a:pPr indent="0" marL="0">
              <a:buNone/>
            </a:pPr>
            <a:r>
              <a:rPr lang="en-US" sz="1100" dirty="0">
                <a:solidFill>
                  <a:schemeClr val="accent2"/>
                </a:solidFill>
              </a:rPr>
              <a:t>Source: compare_chlorophyll_datasets.ipynb, sections 1 and 2.1</a:t>
            </a:r>
            <a:endParaRPr lang="en-US" sz="11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They span 2010–2026 and overlap for two years</a:t>
            </a:r>
            <a:endParaRPr lang="en-US" sz="3200" dirty="0"/>
          </a:p>
        </p:txBody>
      </p:sp>
      <p:sp>
        <p:nvSpPr>
          <p:cNvPr id="3" name="Overlap band"/>
          <p:cNvSpPr/>
          <p:nvPr/>
        </p:nvSpPr>
        <p:spPr>
          <a:xfrm>
            <a:off x="7320686" y="1783080"/>
            <a:ext cx="1218712" cy="2331720"/>
          </a:xfrm>
          <a:prstGeom prst="rect">
            <a:avLst/>
          </a:prstGeom>
          <a:solidFill>
            <a:schemeClr val="bg2"/>
          </a:solidFill>
          <a:ln w="12700">
            <a:solidFill>
              <a:schemeClr val="bg2"/>
            </a:solidFill>
            <a:prstDash val="solid"/>
          </a:ln>
        </p:spPr>
      </p:sp>
      <p:sp>
        <p:nvSpPr>
          <p:cNvPr id="4" name="Overlap label"/>
          <p:cNvSpPr txBox="1"/>
          <p:nvPr/>
        </p:nvSpPr>
        <p:spPr>
          <a:xfrm>
            <a:off x="6467003" y="1371600"/>
            <a:ext cx="2926080" cy="320040"/>
          </a:xfrm>
          <a:prstGeom prst="rect">
            <a:avLst/>
          </a:prstGeom>
          <a:noFill/>
          <a:ln/>
        </p:spPr>
        <p:txBody>
          <a:bodyPr wrap="square" lIns="0" tIns="0" rIns="0" bIns="0" rtlCol="0" anchor="t"/>
          <a:lstStyle/>
          <a:p>
            <a:pPr algn="ctr" indent="0" marL="0">
              <a:buNone/>
            </a:pPr>
            <a:r>
              <a:rPr lang="en-US" sz="1400" b="1" dirty="0">
                <a:solidFill>
                  <a:schemeClr val="tx1"/>
                </a:solidFill>
              </a:rPr>
              <a:t>Overlap: Jun 2020 → May 2022</a:t>
            </a:r>
            <a:endParaRPr lang="en-US" sz="1400" dirty="0"/>
          </a:p>
        </p:txBody>
      </p:sp>
      <p:sp>
        <p:nvSpPr>
          <p:cNvPr id="5" name="DS2 bar"/>
          <p:cNvSpPr/>
          <p:nvPr/>
        </p:nvSpPr>
        <p:spPr>
          <a:xfrm>
            <a:off x="822960" y="2103120"/>
            <a:ext cx="7716439" cy="640080"/>
          </a:xfrm>
          <a:prstGeom prst="rect">
            <a:avLst/>
          </a:prstGeom>
          <a:solidFill>
            <a:schemeClr val="accent5"/>
          </a:solidFill>
          <a:ln w="12700">
            <a:solidFill>
              <a:schemeClr val="accent5"/>
            </a:solidFill>
            <a:prstDash val="solid"/>
          </a:ln>
        </p:spPr>
      </p:sp>
      <p:sp>
        <p:nvSpPr>
          <p:cNvPr id="6" name="DS2 bar label"/>
          <p:cNvSpPr txBox="1"/>
          <p:nvPr/>
        </p:nvSpPr>
        <p:spPr>
          <a:xfrm>
            <a:off x="1005840" y="2103120"/>
            <a:ext cx="4572000" cy="640080"/>
          </a:xfrm>
          <a:prstGeom prst="rect">
            <a:avLst/>
          </a:prstGeom>
          <a:noFill/>
          <a:ln/>
        </p:spPr>
        <p:txBody>
          <a:bodyPr wrap="square" lIns="0" tIns="0" rIns="0" bIns="0" rtlCol="0" anchor="ctr"/>
          <a:lstStyle/>
          <a:p>
            <a:pPr indent="0" marL="0">
              <a:buNone/>
            </a:pPr>
            <a:r>
              <a:rPr lang="en-US" sz="1600" b="1" dirty="0">
                <a:solidFill>
                  <a:schemeClr val="tx1"/>
                </a:solidFill>
              </a:rPr>
              <a:t>DS2 · Jan 2010 → May 2022</a:t>
            </a:r>
            <a:endParaRPr lang="en-US" sz="1600" dirty="0"/>
          </a:p>
        </p:txBody>
      </p:sp>
      <p:sp>
        <p:nvSpPr>
          <p:cNvPr id="7" name="DS1 bar"/>
          <p:cNvSpPr/>
          <p:nvPr/>
        </p:nvSpPr>
        <p:spPr>
          <a:xfrm>
            <a:off x="7320686" y="3154680"/>
            <a:ext cx="3873764" cy="640080"/>
          </a:xfrm>
          <a:prstGeom prst="rect">
            <a:avLst/>
          </a:prstGeom>
          <a:solidFill>
            <a:schemeClr val="tx2"/>
          </a:solidFill>
          <a:ln w="12700">
            <a:solidFill>
              <a:schemeClr val="tx2"/>
            </a:solidFill>
            <a:prstDash val="solid"/>
          </a:ln>
        </p:spPr>
      </p:sp>
      <p:sp>
        <p:nvSpPr>
          <p:cNvPr id="8" name="DS1 bar label"/>
          <p:cNvSpPr txBox="1"/>
          <p:nvPr/>
        </p:nvSpPr>
        <p:spPr>
          <a:xfrm>
            <a:off x="7503566" y="3154680"/>
            <a:ext cx="3566160" cy="640080"/>
          </a:xfrm>
          <a:prstGeom prst="rect">
            <a:avLst/>
          </a:prstGeom>
          <a:noFill/>
          <a:ln/>
        </p:spPr>
        <p:txBody>
          <a:bodyPr wrap="square" lIns="0" tIns="0" rIns="0" bIns="0" rtlCol="0" anchor="ctr"/>
          <a:lstStyle/>
          <a:p>
            <a:pPr indent="0" marL="0">
              <a:buNone/>
            </a:pPr>
            <a:r>
              <a:rPr lang="en-US" sz="1600" b="1" dirty="0">
                <a:solidFill>
                  <a:schemeClr val="bg1"/>
                </a:solidFill>
              </a:rPr>
              <a:t>DS1 · Jun 2020 → Sep 2026</a:t>
            </a:r>
            <a:endParaRPr lang="en-US" sz="1600" dirty="0"/>
          </a:p>
        </p:txBody>
      </p:sp>
      <p:sp>
        <p:nvSpPr>
          <p:cNvPr id="9" name="Axis"/>
          <p:cNvSpPr/>
          <p:nvPr/>
        </p:nvSpPr>
        <p:spPr>
          <a:xfrm>
            <a:off x="822960" y="4297680"/>
            <a:ext cx="10371491" cy="0"/>
          </a:xfrm>
          <a:prstGeom prst="line">
            <a:avLst/>
          </a:prstGeom>
          <a:noFill/>
          <a:ln w="12700">
            <a:solidFill>
              <a:srgbClr val="8C8C8C"/>
            </a:solidFill>
            <a:prstDash val="solid"/>
          </a:ln>
        </p:spPr>
      </p:sp>
      <p:sp>
        <p:nvSpPr>
          <p:cNvPr id="10" name="Year 2010"/>
          <p:cNvSpPr txBox="1"/>
          <p:nvPr/>
        </p:nvSpPr>
        <p:spPr>
          <a:xfrm>
            <a:off x="457200" y="4389120"/>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2010</a:t>
            </a:r>
            <a:endParaRPr lang="en-US" sz="1200" dirty="0"/>
          </a:p>
        </p:txBody>
      </p:sp>
      <p:sp>
        <p:nvSpPr>
          <p:cNvPr id="11" name="Year 2014"/>
          <p:cNvSpPr txBox="1"/>
          <p:nvPr/>
        </p:nvSpPr>
        <p:spPr>
          <a:xfrm>
            <a:off x="2944368" y="4389120"/>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2014</a:t>
            </a:r>
            <a:endParaRPr lang="en-US" sz="1200" dirty="0"/>
          </a:p>
        </p:txBody>
      </p:sp>
      <p:sp>
        <p:nvSpPr>
          <p:cNvPr id="12" name="Year 2018"/>
          <p:cNvSpPr txBox="1"/>
          <p:nvPr/>
        </p:nvSpPr>
        <p:spPr>
          <a:xfrm>
            <a:off x="5431536" y="4389120"/>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2018</a:t>
            </a:r>
            <a:endParaRPr lang="en-US" sz="1200" dirty="0"/>
          </a:p>
        </p:txBody>
      </p:sp>
      <p:sp>
        <p:nvSpPr>
          <p:cNvPr id="13" name="Year 2022"/>
          <p:cNvSpPr txBox="1"/>
          <p:nvPr/>
        </p:nvSpPr>
        <p:spPr>
          <a:xfrm>
            <a:off x="7918704" y="4389120"/>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2022</a:t>
            </a:r>
            <a:endParaRPr lang="en-US" sz="1200" dirty="0"/>
          </a:p>
        </p:txBody>
      </p:sp>
      <p:sp>
        <p:nvSpPr>
          <p:cNvPr id="14" name="Year 2026"/>
          <p:cNvSpPr txBox="1"/>
          <p:nvPr/>
        </p:nvSpPr>
        <p:spPr>
          <a:xfrm>
            <a:off x="10405872" y="4389120"/>
            <a:ext cx="731520" cy="274320"/>
          </a:xfrm>
          <a:prstGeom prst="rect">
            <a:avLst/>
          </a:prstGeom>
          <a:noFill/>
          <a:ln/>
        </p:spPr>
        <p:txBody>
          <a:bodyPr wrap="square" lIns="0" tIns="0" rIns="0" bIns="0" rtlCol="0" anchor="t"/>
          <a:lstStyle/>
          <a:p>
            <a:pPr algn="ctr" indent="0" marL="0">
              <a:buNone/>
            </a:pPr>
            <a:r>
              <a:rPr lang="en-US" sz="1200" dirty="0">
                <a:solidFill>
                  <a:schemeClr val="accent3"/>
                </a:solidFill>
              </a:rPr>
              <a:t>2026</a:t>
            </a:r>
            <a:endParaRPr lang="en-US" sz="1200" dirty="0"/>
          </a:p>
        </p:txBody>
      </p:sp>
      <p:sp>
        <p:nvSpPr>
          <p:cNvPr id="15" name="Timeline note"/>
          <p:cNvSpPr txBox="1"/>
          <p:nvPr/>
        </p:nvSpPr>
        <p:spPr>
          <a:xfrm>
            <a:off x="548640" y="5120640"/>
            <a:ext cx="11091672" cy="640080"/>
          </a:xfrm>
          <a:prstGeom prst="rect">
            <a:avLst/>
          </a:prstGeom>
          <a:noFill/>
          <a:ln/>
        </p:spPr>
        <p:txBody>
          <a:bodyPr wrap="square" lIns="0" tIns="0" rIns="0" bIns="0" rtlCol="0" anchor="t"/>
          <a:lstStyle/>
          <a:p>
            <a:pPr indent="0" marL="0">
              <a:buNone/>
            </a:pPr>
            <a:r>
              <a:rPr lang="en-US" sz="1600" dirty="0">
                <a:solidFill>
                  <a:schemeClr val="tx1"/>
                </a:solidFill>
              </a:rPr>
              <a:t>The overlap is the only window where the two can be compared directly, and where DS2 is calibrated to read like DS1.</a:t>
            </a:r>
            <a:endParaRPr lang="en-US" sz="16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Four differences to resolve before merging</a:t>
            </a:r>
            <a:endParaRPr lang="en-US" sz="3200" dirty="0"/>
          </a:p>
        </p:txBody>
      </p:sp>
      <p:sp>
        <p:nvSpPr>
          <p:cNvPr id="3" name="Card 1"/>
          <p:cNvSpPr/>
          <p:nvPr/>
        </p:nvSpPr>
        <p:spPr>
          <a:xfrm>
            <a:off x="548640" y="1371600"/>
            <a:ext cx="5394960" cy="2057400"/>
          </a:xfrm>
          <a:prstGeom prst="rect">
            <a:avLst/>
          </a:prstGeom>
          <a:solidFill>
            <a:schemeClr val="bg2"/>
          </a:solidFill>
          <a:ln w="12700">
            <a:solidFill>
              <a:schemeClr val="bg2"/>
            </a:solidFill>
            <a:prstDash val="solid"/>
          </a:ln>
        </p:spPr>
      </p:sp>
      <p:sp>
        <p:nvSpPr>
          <p:cNvPr id="4" name="Card text 1"/>
          <p:cNvSpPr txBox="1"/>
          <p:nvPr/>
        </p:nvSpPr>
        <p:spPr>
          <a:xfrm>
            <a:off x="822960" y="1645920"/>
            <a:ext cx="4846320" cy="1554480"/>
          </a:xfrm>
          <a:prstGeom prst="rect">
            <a:avLst/>
          </a:prstGeom>
          <a:noFill/>
          <a:ln/>
        </p:spPr>
        <p:txBody>
          <a:bodyPr wrap="square" lIns="0" tIns="0" rIns="0" bIns="0" rtlCol="0" anchor="t"/>
          <a:lstStyle/>
          <a:p>
            <a:pPr indent="0" marL="0">
              <a:buNone/>
            </a:pPr>
            <a:r>
              <a:rPr lang="en-US" sz="2000" b="1" dirty="0">
                <a:solidFill>
                  <a:schemeClr val="tx1"/>
                </a:solidFill>
              </a:rPr>
              <a:t>1. The grids don't line up</a:t>
            </a:r>
            <a:endParaRPr lang="en-US" sz="1600" dirty="0"/>
          </a:p>
          <a:p>
            <a:pPr indent="0" marL="0">
              <a:spcBef>
                <a:spcPts val="600"/>
              </a:spcBef>
              <a:buNone/>
            </a:pPr>
            <a:r>
              <a:rPr lang="en-US" sz="1600" dirty="0">
                <a:solidFill>
                  <a:schemeClr val="accent3"/>
                </a:solidFill>
              </a:rPr>
              <a:t>Different spacing; zero shared grid points.</a:t>
            </a:r>
            <a:endParaRPr lang="en-US" sz="1600" dirty="0"/>
          </a:p>
          <a:p>
            <a:pPr indent="0" marL="0">
              <a:spcBef>
                <a:spcPts val="1000"/>
              </a:spcBef>
              <a:buNone/>
            </a:pPr>
            <a:r>
              <a:rPr lang="en-US" sz="1600" b="1" dirty="0">
                <a:solidFill>
                  <a:schemeClr val="tx2"/>
                </a:solidFill>
              </a:rPr>
              <a:t>Fix: match by nearest distance</a:t>
            </a:r>
            <a:endParaRPr lang="en-US" sz="1600" dirty="0"/>
          </a:p>
        </p:txBody>
      </p:sp>
      <p:sp>
        <p:nvSpPr>
          <p:cNvPr id="5" name="Card 2"/>
          <p:cNvSpPr/>
          <p:nvPr/>
        </p:nvSpPr>
        <p:spPr>
          <a:xfrm>
            <a:off x="6245352" y="1371600"/>
            <a:ext cx="5394960" cy="2057400"/>
          </a:xfrm>
          <a:prstGeom prst="rect">
            <a:avLst/>
          </a:prstGeom>
          <a:solidFill>
            <a:schemeClr val="bg2"/>
          </a:solidFill>
          <a:ln w="12700">
            <a:solidFill>
              <a:schemeClr val="bg2"/>
            </a:solidFill>
            <a:prstDash val="solid"/>
          </a:ln>
        </p:spPr>
      </p:sp>
      <p:sp>
        <p:nvSpPr>
          <p:cNvPr id="6" name="Card text 2"/>
          <p:cNvSpPr txBox="1"/>
          <p:nvPr/>
        </p:nvSpPr>
        <p:spPr>
          <a:xfrm>
            <a:off x="6519672" y="1645920"/>
            <a:ext cx="4846320" cy="1554480"/>
          </a:xfrm>
          <a:prstGeom prst="rect">
            <a:avLst/>
          </a:prstGeom>
          <a:noFill/>
          <a:ln/>
        </p:spPr>
        <p:txBody>
          <a:bodyPr wrap="square" lIns="0" tIns="0" rIns="0" bIns="0" rtlCol="0" anchor="t"/>
          <a:lstStyle/>
          <a:p>
            <a:pPr indent="0" marL="0">
              <a:buNone/>
            </a:pPr>
            <a:r>
              <a:rPr lang="en-US" sz="2000" b="1" dirty="0">
                <a:solidFill>
                  <a:schemeClr val="tx1"/>
                </a:solidFill>
              </a:rPr>
              <a:t>2. The readings differ</a:t>
            </a:r>
            <a:endParaRPr lang="en-US" sz="1600" dirty="0"/>
          </a:p>
          <a:p>
            <a:pPr indent="0" marL="0">
              <a:spcBef>
                <a:spcPts val="600"/>
              </a:spcBef>
              <a:buNone/>
            </a:pPr>
            <a:r>
              <a:rPr lang="en-US" sz="1600" dirty="0">
                <a:solidFill>
                  <a:schemeClr val="accent3"/>
                </a:solidFill>
              </a:rPr>
              <a:t>DS1 reads ~8% lower, more at bloom levels.</a:t>
            </a:r>
            <a:endParaRPr lang="en-US" sz="1600" dirty="0"/>
          </a:p>
          <a:p>
            <a:pPr indent="0" marL="0">
              <a:spcBef>
                <a:spcPts val="1000"/>
              </a:spcBef>
              <a:buNone/>
            </a:pPr>
            <a:r>
              <a:rPr lang="en-US" sz="1600" b="1" dirty="0">
                <a:solidFill>
                  <a:schemeClr val="tx2"/>
                </a:solidFill>
              </a:rPr>
              <a:t>Fix: adjust DS2 level by level</a:t>
            </a:r>
            <a:endParaRPr lang="en-US" sz="1600" dirty="0"/>
          </a:p>
        </p:txBody>
      </p:sp>
      <p:sp>
        <p:nvSpPr>
          <p:cNvPr id="7" name="Card 3"/>
          <p:cNvSpPr/>
          <p:nvPr/>
        </p:nvSpPr>
        <p:spPr>
          <a:xfrm>
            <a:off x="548640" y="3657600"/>
            <a:ext cx="5394960" cy="2057400"/>
          </a:xfrm>
          <a:prstGeom prst="rect">
            <a:avLst/>
          </a:prstGeom>
          <a:solidFill>
            <a:schemeClr val="bg2"/>
          </a:solidFill>
          <a:ln w="12700">
            <a:solidFill>
              <a:schemeClr val="bg2"/>
            </a:solidFill>
            <a:prstDash val="solid"/>
          </a:ln>
        </p:spPr>
      </p:sp>
      <p:sp>
        <p:nvSpPr>
          <p:cNvPr id="8" name="Card text 3"/>
          <p:cNvSpPr txBox="1"/>
          <p:nvPr/>
        </p:nvSpPr>
        <p:spPr>
          <a:xfrm>
            <a:off x="822960" y="3931920"/>
            <a:ext cx="4846320" cy="1554480"/>
          </a:xfrm>
          <a:prstGeom prst="rect">
            <a:avLst/>
          </a:prstGeom>
          <a:noFill/>
          <a:ln/>
        </p:spPr>
        <p:txBody>
          <a:bodyPr wrap="square" lIns="0" tIns="0" rIns="0" bIns="0" rtlCol="0" anchor="t"/>
          <a:lstStyle/>
          <a:p>
            <a:pPr indent="0" marL="0">
              <a:buNone/>
            </a:pPr>
            <a:r>
              <a:rPr lang="en-US" sz="2000" b="1" dirty="0">
                <a:solidFill>
                  <a:schemeClr val="tx1"/>
                </a:solidFill>
              </a:rPr>
              <a:t>3. Most rows are empty</a:t>
            </a:r>
            <a:endParaRPr lang="en-US" sz="1600" dirty="0"/>
          </a:p>
          <a:p>
            <a:pPr indent="0" marL="0">
              <a:spcBef>
                <a:spcPts val="600"/>
              </a:spcBef>
              <a:buNone/>
            </a:pPr>
            <a:r>
              <a:rPr lang="en-US" sz="1600" dirty="0">
                <a:solidFill>
                  <a:schemeClr val="accent3"/>
                </a:solidFill>
              </a:rPr>
              <a:t>Land, clouds, sun glint and quality masks.</a:t>
            </a:r>
            <a:endParaRPr lang="en-US" sz="1600" dirty="0"/>
          </a:p>
          <a:p>
            <a:pPr indent="0" marL="0">
              <a:spcBef>
                <a:spcPts val="1000"/>
              </a:spcBef>
              <a:buNone/>
            </a:pPr>
            <a:r>
              <a:rPr lang="en-US" sz="1600" b="1" dirty="0">
                <a:solidFill>
                  <a:schemeClr val="tx2"/>
                </a:solidFill>
              </a:rPr>
              <a:t>Fix: drop land, flag coast, never fill with a mean</a:t>
            </a:r>
            <a:endParaRPr lang="en-US" sz="1600" dirty="0"/>
          </a:p>
        </p:txBody>
      </p:sp>
      <p:sp>
        <p:nvSpPr>
          <p:cNvPr id="9" name="Card 4"/>
          <p:cNvSpPr/>
          <p:nvPr/>
        </p:nvSpPr>
        <p:spPr>
          <a:xfrm>
            <a:off x="6245352" y="3657600"/>
            <a:ext cx="5394960" cy="2057400"/>
          </a:xfrm>
          <a:prstGeom prst="rect">
            <a:avLst/>
          </a:prstGeom>
          <a:solidFill>
            <a:schemeClr val="bg2"/>
          </a:solidFill>
          <a:ln w="12700">
            <a:solidFill>
              <a:schemeClr val="bg2"/>
            </a:solidFill>
            <a:prstDash val="solid"/>
          </a:ln>
        </p:spPr>
      </p:sp>
      <p:sp>
        <p:nvSpPr>
          <p:cNvPr id="10" name="Card text 4"/>
          <p:cNvSpPr txBox="1"/>
          <p:nvPr/>
        </p:nvSpPr>
        <p:spPr>
          <a:xfrm>
            <a:off x="6519672" y="3931920"/>
            <a:ext cx="4846320" cy="1554480"/>
          </a:xfrm>
          <a:prstGeom prst="rect">
            <a:avLst/>
          </a:prstGeom>
          <a:noFill/>
          <a:ln/>
        </p:spPr>
        <p:txBody>
          <a:bodyPr wrap="square" lIns="0" tIns="0" rIns="0" bIns="0" rtlCol="0" anchor="t"/>
          <a:lstStyle/>
          <a:p>
            <a:pPr indent="0" marL="0">
              <a:buNone/>
            </a:pPr>
            <a:r>
              <a:rPr lang="en-US" sz="2000" b="1" dirty="0">
                <a:solidFill>
                  <a:schemeClr val="tx1"/>
                </a:solidFill>
              </a:rPr>
              <a:t>4. Extreme, skewed values</a:t>
            </a:r>
            <a:endParaRPr lang="en-US" sz="1600" dirty="0"/>
          </a:p>
          <a:p>
            <a:pPr indent="0" marL="0">
              <a:spcBef>
                <a:spcPts val="600"/>
              </a:spcBef>
              <a:buNone/>
            </a:pPr>
            <a:r>
              <a:rPr lang="en-US" sz="1600" dirty="0">
                <a:solidFill>
                  <a:schemeClr val="accent3"/>
                </a:solidFill>
              </a:rPr>
              <a:t>Values at the product's limits; long tail.</a:t>
            </a:r>
            <a:endParaRPr lang="en-US" sz="1600" dirty="0"/>
          </a:p>
          <a:p>
            <a:pPr indent="0" marL="0">
              <a:spcBef>
                <a:spcPts val="1000"/>
              </a:spcBef>
              <a:buNone/>
            </a:pPr>
            <a:r>
              <a:rPr lang="en-US" sz="1600" b="1" dirty="0">
                <a:solidFill>
                  <a:schemeClr val="tx2"/>
                </a:solidFill>
              </a:rPr>
              <a:t>Fix: keep highs with a flag, use log10</a:t>
            </a:r>
            <a:endParaRPr lang="en-US" sz="16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Problem 1: the two grids never line up</a:t>
            </a:r>
            <a:endParaRPr lang="en-US" sz="3200" dirty="0"/>
          </a:p>
        </p:txBody>
      </p:sp>
      <p:pic>
        <p:nvPicPr>
          <p:cNvPr id="3" name="Grid corner plot" descr="Zoomed corner of both grids: DS1 points as blue circles and DS2 points as orange crosses drifting in and out of line">    </p:cNvPr>
          <p:cNvPicPr>
            <a:picLocks noChangeAspect="1"/>
          </p:cNvPicPr>
          <p:nvPr/>
        </p:nvPicPr>
        <p:blipFill>
          <a:blip r:embed="rId1"/>
          <a:stretch>
            <a:fillRect/>
          </a:stretch>
        </p:blipFill>
        <p:spPr>
          <a:xfrm>
            <a:off x="548640" y="1280160"/>
            <a:ext cx="4809744" cy="4754880"/>
          </a:xfrm>
          <a:prstGeom prst="rect">
            <a:avLst/>
          </a:prstGeom>
        </p:spPr>
      </p:pic>
      <p:sp>
        <p:nvSpPr>
          <p:cNvPr id="4" name="Shared points value"/>
          <p:cNvSpPr txBox="1"/>
          <p:nvPr/>
        </p:nvSpPr>
        <p:spPr>
          <a:xfrm>
            <a:off x="5943600" y="1463040"/>
            <a:ext cx="5669280" cy="777240"/>
          </a:xfrm>
          <a:prstGeom prst="rect">
            <a:avLst/>
          </a:prstGeom>
          <a:noFill/>
          <a:ln/>
        </p:spPr>
        <p:txBody>
          <a:bodyPr wrap="square" lIns="0" tIns="0" rIns="0" bIns="0" rtlCol="0" anchor="b"/>
          <a:lstStyle/>
          <a:p>
            <a:pPr indent="0" marL="0">
              <a:buNone/>
            </a:pPr>
            <a:r>
              <a:rPr lang="en-US" sz="4800" b="1" dirty="0">
                <a:solidFill>
                  <a:schemeClr val="tx2"/>
                </a:solidFill>
              </a:rPr>
              <a:t>0</a:t>
            </a:r>
            <a:endParaRPr lang="en-US" sz="4800" dirty="0"/>
          </a:p>
        </p:txBody>
      </p:sp>
      <p:sp>
        <p:nvSpPr>
          <p:cNvPr id="5" name="Shared points label"/>
          <p:cNvSpPr txBox="1"/>
          <p:nvPr/>
        </p:nvSpPr>
        <p:spPr>
          <a:xfrm>
            <a:off x="5943600" y="2286000"/>
            <a:ext cx="5669280" cy="914400"/>
          </a:xfrm>
          <a:prstGeom prst="rect">
            <a:avLst/>
          </a:prstGeom>
          <a:noFill/>
          <a:ln/>
        </p:spPr>
        <p:txBody>
          <a:bodyPr wrap="square" lIns="0" tIns="0" rIns="0" bIns="0" rtlCol="0" anchor="t"/>
          <a:lstStyle/>
          <a:p>
            <a:pPr indent="0" marL="0">
              <a:buNone/>
            </a:pPr>
            <a:r>
              <a:rPr lang="en-US" sz="1600" dirty="0">
                <a:solidFill>
                  <a:schemeClr val="accent3"/>
                </a:solidFill>
              </a:rPr>
              <a:t>grid points appear in both datasets</a:t>
            </a:r>
            <a:endParaRPr lang="en-US" sz="1600" dirty="0"/>
          </a:p>
        </p:txBody>
      </p:sp>
      <p:sp>
        <p:nvSpPr>
          <p:cNvPr id="6" name="Grid explanation"/>
          <p:cNvSpPr txBox="1"/>
          <p:nvPr/>
        </p:nvSpPr>
        <p:spPr>
          <a:xfrm>
            <a:off x="5943600" y="3200400"/>
            <a:ext cx="5669280" cy="914400"/>
          </a:xfrm>
          <a:prstGeom prst="rect">
            <a:avLst/>
          </a:prstGeom>
          <a:noFill/>
          <a:ln/>
        </p:spPr>
        <p:txBody>
          <a:bodyPr wrap="square" lIns="0" tIns="0" rIns="0" bIns="0" rtlCol="0" anchor="t"/>
          <a:lstStyle/>
          <a:p>
            <a:pPr indent="0" marL="0">
              <a:buNone/>
            </a:pPr>
            <a:r>
              <a:rPr lang="en-US" sz="1600" dirty="0">
                <a:solidFill>
                  <a:schemeClr val="tx1"/>
                </a:solidFill>
              </a:rPr>
              <a:t>Both grids are evenly spaced, but DS1 uses 0.0375° squares and DS2 uses 0.0417°. The squares drift in and out of line.</a:t>
            </a:r>
            <a:endParaRPr lang="en-US" sz="1600" dirty="0"/>
          </a:p>
        </p:txBody>
      </p:sp>
      <p:sp>
        <p:nvSpPr>
          <p:cNvPr id="7" name="Merge consequence"/>
          <p:cNvSpPr txBox="1"/>
          <p:nvPr/>
        </p:nvSpPr>
        <p:spPr>
          <a:xfrm>
            <a:off x="5943600" y="4297680"/>
            <a:ext cx="5669280" cy="640080"/>
          </a:xfrm>
          <a:prstGeom prst="rect">
            <a:avLst/>
          </a:prstGeom>
          <a:noFill/>
          <a:ln/>
        </p:spPr>
        <p:txBody>
          <a:bodyPr wrap="square" lIns="0" tIns="0" rIns="0" bIns="0" rtlCol="0" anchor="t"/>
          <a:lstStyle/>
          <a:p>
            <a:pPr indent="0" marL="0">
              <a:buNone/>
            </a:pPr>
            <a:r>
              <a:rPr lang="en-US" sz="1600" dirty="0">
                <a:solidFill>
                  <a:schemeClr val="tx1"/>
                </a:solidFill>
              </a:rPr>
              <a:t>A plain merge on latitude + longitude would return </a:t>
            </a:r>
            <a:pPr indent="0" marL="0">
              <a:buNone/>
            </a:pPr>
            <a:r>
              <a:rPr lang="en-US" sz="1600" b="1" dirty="0">
                <a:solidFill>
                  <a:schemeClr val="tx1"/>
                </a:solidFill>
              </a:rPr>
              <a:t>nothing</a:t>
            </a:r>
            <a:pPr indent="0" marL="0">
              <a:buNone/>
            </a:pPr>
            <a:r>
              <a:rPr lang="en-US" sz="1600" dirty="0">
                <a:solidFill>
                  <a:schemeClr val="tx1"/>
                </a:solidFill>
              </a:rPr>
              <a:t>.</a:t>
            </a:r>
            <a:endParaRPr lang="en-US" sz="1600" dirty="0"/>
          </a:p>
        </p:txBody>
      </p:sp>
      <p:sp>
        <p:nvSpPr>
          <p:cNvPr id="8" name="Source"/>
          <p:cNvSpPr txBox="1"/>
          <p:nvPr/>
        </p:nvSpPr>
        <p:spPr>
          <a:xfrm>
            <a:off x="548640" y="6355080"/>
            <a:ext cx="10424160" cy="274320"/>
          </a:xfrm>
          <a:prstGeom prst="rect">
            <a:avLst/>
          </a:prstGeom>
          <a:noFill/>
          <a:ln/>
        </p:spPr>
        <p:txBody>
          <a:bodyPr wrap="square" lIns="0" tIns="0" rIns="0" bIns="0" rtlCol="0" anchor="t"/>
          <a:lstStyle/>
          <a:p>
            <a:pPr indent="0" marL="0">
              <a:buNone/>
            </a:pPr>
            <a:r>
              <a:rPr lang="en-US" sz="1100" dirty="0">
                <a:solidFill>
                  <a:schemeClr val="accent2"/>
                </a:solidFill>
              </a:rPr>
              <a:t>Source: compare_chlorophyll_datasets.ipynb, section 2.1</a:t>
            </a:r>
            <a:endParaRPr lang="en-US" sz="11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Fix: match each cell to its nearest neighbour</a:t>
            </a:r>
            <a:endParaRPr lang="en-US" sz="3200" dirty="0"/>
          </a:p>
        </p:txBody>
      </p:sp>
      <p:sp>
        <p:nvSpPr>
          <p:cNvPr id="3" name="DS1 row label"/>
          <p:cNvSpPr txBox="1"/>
          <p:nvPr/>
        </p:nvSpPr>
        <p:spPr>
          <a:xfrm>
            <a:off x="822960" y="1371600"/>
            <a:ext cx="4572000" cy="320040"/>
          </a:xfrm>
          <a:prstGeom prst="rect">
            <a:avLst/>
          </a:prstGeom>
          <a:noFill/>
          <a:ln/>
        </p:spPr>
        <p:txBody>
          <a:bodyPr wrap="square" lIns="0" tIns="0" rIns="0" bIns="0" rtlCol="0" anchor="t"/>
          <a:lstStyle/>
          <a:p>
            <a:pPr indent="0" marL="0">
              <a:buNone/>
            </a:pPr>
            <a:r>
              <a:rPr lang="en-US" sz="1400" b="1" dirty="0">
                <a:solidFill>
                  <a:schemeClr val="tx2"/>
                </a:solidFill>
              </a:rPr>
              <a:t>DS1 cells · about 4.2 km</a:t>
            </a:r>
            <a:endParaRPr lang="en-US" sz="1400" dirty="0"/>
          </a:p>
        </p:txBody>
      </p:sp>
      <p:sp>
        <p:nvSpPr>
          <p:cNvPr id="4" name="DS1 cell A"/>
          <p:cNvSpPr/>
          <p:nvPr/>
        </p:nvSpPr>
        <p:spPr>
          <a:xfrm>
            <a:off x="822960" y="1828800"/>
            <a:ext cx="777240" cy="548640"/>
          </a:xfrm>
          <a:prstGeom prst="rect">
            <a:avLst/>
          </a:prstGeom>
          <a:solidFill>
            <a:schemeClr val="bg1"/>
          </a:solidFill>
          <a:ln w="19050">
            <a:solidFill>
              <a:schemeClr val="tx2"/>
            </a:solidFill>
            <a:prstDash val="solid"/>
          </a:ln>
        </p:spPr>
      </p:sp>
      <p:sp>
        <p:nvSpPr>
          <p:cNvPr id="5" name="DS1 cell label A"/>
          <p:cNvSpPr txBox="1"/>
          <p:nvPr/>
        </p:nvSpPr>
        <p:spPr>
          <a:xfrm>
            <a:off x="822960" y="1828800"/>
            <a:ext cx="777240" cy="548640"/>
          </a:xfrm>
          <a:prstGeom prst="rect">
            <a:avLst/>
          </a:prstGeom>
          <a:noFill/>
          <a:ln/>
        </p:spPr>
        <p:txBody>
          <a:bodyPr wrap="square" lIns="0" tIns="0" rIns="0" bIns="0" rtlCol="0" anchor="ctr"/>
          <a:lstStyle/>
          <a:p>
            <a:pPr algn="ctr" indent="0" marL="0">
              <a:buNone/>
            </a:pPr>
            <a:r>
              <a:rPr lang="en-US" sz="1800" b="1" dirty="0">
                <a:solidFill>
                  <a:schemeClr val="tx1"/>
                </a:solidFill>
              </a:rPr>
              <a:t>A</a:t>
            </a:r>
            <a:endParaRPr lang="en-US" sz="1800" dirty="0"/>
          </a:p>
        </p:txBody>
      </p:sp>
      <p:sp>
        <p:nvSpPr>
          <p:cNvPr id="6" name="DS1 cell B"/>
          <p:cNvSpPr/>
          <p:nvPr/>
        </p:nvSpPr>
        <p:spPr>
          <a:xfrm>
            <a:off x="1737360" y="1828800"/>
            <a:ext cx="777240" cy="548640"/>
          </a:xfrm>
          <a:prstGeom prst="rect">
            <a:avLst/>
          </a:prstGeom>
          <a:solidFill>
            <a:schemeClr val="bg1"/>
          </a:solidFill>
          <a:ln w="19050">
            <a:solidFill>
              <a:schemeClr val="tx2"/>
            </a:solidFill>
            <a:prstDash val="solid"/>
          </a:ln>
        </p:spPr>
      </p:sp>
      <p:sp>
        <p:nvSpPr>
          <p:cNvPr id="7" name="DS1 cell label B"/>
          <p:cNvSpPr txBox="1"/>
          <p:nvPr/>
        </p:nvSpPr>
        <p:spPr>
          <a:xfrm>
            <a:off x="1737360" y="1828800"/>
            <a:ext cx="777240" cy="548640"/>
          </a:xfrm>
          <a:prstGeom prst="rect">
            <a:avLst/>
          </a:prstGeom>
          <a:noFill/>
          <a:ln/>
        </p:spPr>
        <p:txBody>
          <a:bodyPr wrap="square" lIns="0" tIns="0" rIns="0" bIns="0" rtlCol="0" anchor="ctr"/>
          <a:lstStyle/>
          <a:p>
            <a:pPr algn="ctr" indent="0" marL="0">
              <a:buNone/>
            </a:pPr>
            <a:r>
              <a:rPr lang="en-US" sz="1800" b="1" dirty="0">
                <a:solidFill>
                  <a:schemeClr val="tx1"/>
                </a:solidFill>
              </a:rPr>
              <a:t>B</a:t>
            </a:r>
            <a:endParaRPr lang="en-US" sz="1800" dirty="0"/>
          </a:p>
        </p:txBody>
      </p:sp>
      <p:sp>
        <p:nvSpPr>
          <p:cNvPr id="8" name="DS1 cell C"/>
          <p:cNvSpPr/>
          <p:nvPr/>
        </p:nvSpPr>
        <p:spPr>
          <a:xfrm>
            <a:off x="2651760" y="1828800"/>
            <a:ext cx="777240" cy="548640"/>
          </a:xfrm>
          <a:prstGeom prst="rect">
            <a:avLst/>
          </a:prstGeom>
          <a:solidFill>
            <a:schemeClr val="bg1"/>
          </a:solidFill>
          <a:ln w="19050">
            <a:solidFill>
              <a:schemeClr val="tx2"/>
            </a:solidFill>
            <a:prstDash val="solid"/>
          </a:ln>
        </p:spPr>
      </p:sp>
      <p:sp>
        <p:nvSpPr>
          <p:cNvPr id="9" name="DS1 cell label C"/>
          <p:cNvSpPr txBox="1"/>
          <p:nvPr/>
        </p:nvSpPr>
        <p:spPr>
          <a:xfrm>
            <a:off x="2651760" y="1828800"/>
            <a:ext cx="777240" cy="548640"/>
          </a:xfrm>
          <a:prstGeom prst="rect">
            <a:avLst/>
          </a:prstGeom>
          <a:noFill/>
          <a:ln/>
        </p:spPr>
        <p:txBody>
          <a:bodyPr wrap="square" lIns="0" tIns="0" rIns="0" bIns="0" rtlCol="0" anchor="ctr"/>
          <a:lstStyle/>
          <a:p>
            <a:pPr algn="ctr" indent="0" marL="0">
              <a:buNone/>
            </a:pPr>
            <a:r>
              <a:rPr lang="en-US" sz="1800" b="1" dirty="0">
                <a:solidFill>
                  <a:schemeClr val="tx1"/>
                </a:solidFill>
              </a:rPr>
              <a:t>C</a:t>
            </a:r>
            <a:endParaRPr lang="en-US" sz="1800" dirty="0"/>
          </a:p>
        </p:txBody>
      </p:sp>
      <p:sp>
        <p:nvSpPr>
          <p:cNvPr id="10" name="DS1 cell D"/>
          <p:cNvSpPr/>
          <p:nvPr/>
        </p:nvSpPr>
        <p:spPr>
          <a:xfrm>
            <a:off x="3566160" y="1828800"/>
            <a:ext cx="777240" cy="548640"/>
          </a:xfrm>
          <a:prstGeom prst="rect">
            <a:avLst/>
          </a:prstGeom>
          <a:solidFill>
            <a:schemeClr val="bg1"/>
          </a:solidFill>
          <a:ln w="19050">
            <a:solidFill>
              <a:schemeClr val="tx2"/>
            </a:solidFill>
            <a:prstDash val="solid"/>
          </a:ln>
        </p:spPr>
      </p:sp>
      <p:sp>
        <p:nvSpPr>
          <p:cNvPr id="11" name="DS1 cell label D"/>
          <p:cNvSpPr txBox="1"/>
          <p:nvPr/>
        </p:nvSpPr>
        <p:spPr>
          <a:xfrm>
            <a:off x="3566160" y="1828800"/>
            <a:ext cx="777240" cy="548640"/>
          </a:xfrm>
          <a:prstGeom prst="rect">
            <a:avLst/>
          </a:prstGeom>
          <a:noFill/>
          <a:ln/>
        </p:spPr>
        <p:txBody>
          <a:bodyPr wrap="square" lIns="0" tIns="0" rIns="0" bIns="0" rtlCol="0" anchor="ctr"/>
          <a:lstStyle/>
          <a:p>
            <a:pPr algn="ctr" indent="0" marL="0">
              <a:buNone/>
            </a:pPr>
            <a:r>
              <a:rPr lang="en-US" sz="1800" b="1" dirty="0">
                <a:solidFill>
                  <a:schemeClr val="tx1"/>
                </a:solidFill>
              </a:rPr>
              <a:t>D</a:t>
            </a:r>
            <a:endParaRPr lang="en-US" sz="1800" dirty="0"/>
          </a:p>
        </p:txBody>
      </p:sp>
      <p:sp>
        <p:nvSpPr>
          <p:cNvPr id="12" name="DS1 cell E"/>
          <p:cNvSpPr/>
          <p:nvPr/>
        </p:nvSpPr>
        <p:spPr>
          <a:xfrm>
            <a:off x="4480560" y="1828800"/>
            <a:ext cx="777240" cy="548640"/>
          </a:xfrm>
          <a:prstGeom prst="rect">
            <a:avLst/>
          </a:prstGeom>
          <a:solidFill>
            <a:schemeClr val="bg1"/>
          </a:solidFill>
          <a:ln w="19050">
            <a:solidFill>
              <a:schemeClr val="tx2"/>
            </a:solidFill>
            <a:prstDash val="solid"/>
          </a:ln>
        </p:spPr>
      </p:sp>
      <p:sp>
        <p:nvSpPr>
          <p:cNvPr id="13" name="DS1 cell label E"/>
          <p:cNvSpPr txBox="1"/>
          <p:nvPr/>
        </p:nvSpPr>
        <p:spPr>
          <a:xfrm>
            <a:off x="4480560" y="1828800"/>
            <a:ext cx="777240" cy="548640"/>
          </a:xfrm>
          <a:prstGeom prst="rect">
            <a:avLst/>
          </a:prstGeom>
          <a:noFill/>
          <a:ln/>
        </p:spPr>
        <p:txBody>
          <a:bodyPr wrap="square" lIns="0" tIns="0" rIns="0" bIns="0" rtlCol="0" anchor="ctr"/>
          <a:lstStyle/>
          <a:p>
            <a:pPr algn="ctr" indent="0" marL="0">
              <a:buNone/>
            </a:pPr>
            <a:r>
              <a:rPr lang="en-US" sz="1800" b="1" dirty="0">
                <a:solidFill>
                  <a:schemeClr val="tx1"/>
                </a:solidFill>
              </a:rPr>
              <a:t>E</a:t>
            </a:r>
            <a:endParaRPr lang="en-US" sz="1800" dirty="0"/>
          </a:p>
        </p:txBody>
      </p:sp>
      <p:sp>
        <p:nvSpPr>
          <p:cNvPr id="14" name="DS2 pixel P"/>
          <p:cNvSpPr/>
          <p:nvPr/>
        </p:nvSpPr>
        <p:spPr>
          <a:xfrm>
            <a:off x="1246327" y="3291840"/>
            <a:ext cx="1005840" cy="548640"/>
          </a:xfrm>
          <a:prstGeom prst="rect">
            <a:avLst/>
          </a:prstGeom>
          <a:solidFill>
            <a:schemeClr val="bg2"/>
          </a:solidFill>
          <a:ln w="19050">
            <a:solidFill>
              <a:schemeClr val="accent3"/>
            </a:solidFill>
            <a:prstDash val="solid"/>
          </a:ln>
        </p:spPr>
      </p:sp>
      <p:sp>
        <p:nvSpPr>
          <p:cNvPr id="15" name="DS2 pixel label P"/>
          <p:cNvSpPr txBox="1"/>
          <p:nvPr/>
        </p:nvSpPr>
        <p:spPr>
          <a:xfrm>
            <a:off x="1246327" y="3291840"/>
            <a:ext cx="1005840" cy="548640"/>
          </a:xfrm>
          <a:prstGeom prst="rect">
            <a:avLst/>
          </a:prstGeom>
          <a:noFill/>
          <a:ln/>
        </p:spPr>
        <p:txBody>
          <a:bodyPr wrap="square" lIns="0" tIns="0" rIns="0" bIns="0" rtlCol="0" anchor="ctr"/>
          <a:lstStyle/>
          <a:p>
            <a:pPr algn="ctr" indent="0" marL="0">
              <a:buNone/>
            </a:pPr>
            <a:r>
              <a:rPr lang="en-US" sz="1800" b="1" dirty="0">
                <a:solidFill>
                  <a:schemeClr val="tx1"/>
                </a:solidFill>
              </a:rPr>
              <a:t>P</a:t>
            </a:r>
            <a:endParaRPr lang="en-US" sz="1800" dirty="0"/>
          </a:p>
        </p:txBody>
      </p:sp>
      <p:sp>
        <p:nvSpPr>
          <p:cNvPr id="16" name="DS2 pixel Q"/>
          <p:cNvSpPr/>
          <p:nvPr/>
        </p:nvSpPr>
        <p:spPr>
          <a:xfrm>
            <a:off x="2389327" y="3291840"/>
            <a:ext cx="1005840" cy="548640"/>
          </a:xfrm>
          <a:prstGeom prst="rect">
            <a:avLst/>
          </a:prstGeom>
          <a:solidFill>
            <a:schemeClr val="bg2"/>
          </a:solidFill>
          <a:ln w="19050">
            <a:solidFill>
              <a:schemeClr val="accent3"/>
            </a:solidFill>
            <a:prstDash val="solid"/>
          </a:ln>
        </p:spPr>
      </p:sp>
      <p:sp>
        <p:nvSpPr>
          <p:cNvPr id="17" name="DS2 pixel label Q"/>
          <p:cNvSpPr txBox="1"/>
          <p:nvPr/>
        </p:nvSpPr>
        <p:spPr>
          <a:xfrm>
            <a:off x="2389327" y="3291840"/>
            <a:ext cx="1005840" cy="548640"/>
          </a:xfrm>
          <a:prstGeom prst="rect">
            <a:avLst/>
          </a:prstGeom>
          <a:noFill/>
          <a:ln/>
        </p:spPr>
        <p:txBody>
          <a:bodyPr wrap="square" lIns="0" tIns="0" rIns="0" bIns="0" rtlCol="0" anchor="ctr"/>
          <a:lstStyle/>
          <a:p>
            <a:pPr algn="ctr" indent="0" marL="0">
              <a:buNone/>
            </a:pPr>
            <a:r>
              <a:rPr lang="en-US" sz="1800" b="1" dirty="0">
                <a:solidFill>
                  <a:schemeClr val="tx1"/>
                </a:solidFill>
              </a:rPr>
              <a:t>Q</a:t>
            </a:r>
            <a:endParaRPr lang="en-US" sz="1800" dirty="0"/>
          </a:p>
        </p:txBody>
      </p:sp>
      <p:sp>
        <p:nvSpPr>
          <p:cNvPr id="18" name="DS2 pixel R"/>
          <p:cNvSpPr/>
          <p:nvPr/>
        </p:nvSpPr>
        <p:spPr>
          <a:xfrm>
            <a:off x="3532327" y="3291840"/>
            <a:ext cx="1005840" cy="548640"/>
          </a:xfrm>
          <a:prstGeom prst="rect">
            <a:avLst/>
          </a:prstGeom>
          <a:solidFill>
            <a:schemeClr val="bg2"/>
          </a:solidFill>
          <a:ln w="19050">
            <a:solidFill>
              <a:schemeClr val="accent3"/>
            </a:solidFill>
            <a:prstDash val="solid"/>
          </a:ln>
        </p:spPr>
      </p:sp>
      <p:sp>
        <p:nvSpPr>
          <p:cNvPr id="19" name="DS2 pixel label R"/>
          <p:cNvSpPr txBox="1"/>
          <p:nvPr/>
        </p:nvSpPr>
        <p:spPr>
          <a:xfrm>
            <a:off x="3532327" y="3291840"/>
            <a:ext cx="1005840" cy="548640"/>
          </a:xfrm>
          <a:prstGeom prst="rect">
            <a:avLst/>
          </a:prstGeom>
          <a:noFill/>
          <a:ln/>
        </p:spPr>
        <p:txBody>
          <a:bodyPr wrap="square" lIns="0" tIns="0" rIns="0" bIns="0" rtlCol="0" anchor="ctr"/>
          <a:lstStyle/>
          <a:p>
            <a:pPr algn="ctr" indent="0" marL="0">
              <a:buNone/>
            </a:pPr>
            <a:r>
              <a:rPr lang="en-US" sz="1800" b="1" dirty="0">
                <a:solidFill>
                  <a:schemeClr val="tx1"/>
                </a:solidFill>
              </a:rPr>
              <a:t>R</a:t>
            </a:r>
            <a:endParaRPr lang="en-US" sz="1800" dirty="0"/>
          </a:p>
        </p:txBody>
      </p:sp>
      <p:sp>
        <p:nvSpPr>
          <p:cNvPr id="20" name="DS2 pixel S"/>
          <p:cNvSpPr/>
          <p:nvPr/>
        </p:nvSpPr>
        <p:spPr>
          <a:xfrm>
            <a:off x="4675327" y="3291840"/>
            <a:ext cx="1005840" cy="548640"/>
          </a:xfrm>
          <a:prstGeom prst="rect">
            <a:avLst/>
          </a:prstGeom>
          <a:solidFill>
            <a:schemeClr val="bg2"/>
          </a:solidFill>
          <a:ln w="19050">
            <a:solidFill>
              <a:schemeClr val="accent3"/>
            </a:solidFill>
            <a:prstDash val="solid"/>
          </a:ln>
        </p:spPr>
      </p:sp>
      <p:sp>
        <p:nvSpPr>
          <p:cNvPr id="21" name="DS2 pixel label S"/>
          <p:cNvSpPr txBox="1"/>
          <p:nvPr/>
        </p:nvSpPr>
        <p:spPr>
          <a:xfrm>
            <a:off x="4675327" y="3291840"/>
            <a:ext cx="1005840" cy="548640"/>
          </a:xfrm>
          <a:prstGeom prst="rect">
            <a:avLst/>
          </a:prstGeom>
          <a:noFill/>
          <a:ln/>
        </p:spPr>
        <p:txBody>
          <a:bodyPr wrap="square" lIns="0" tIns="0" rIns="0" bIns="0" rtlCol="0" anchor="ctr"/>
          <a:lstStyle/>
          <a:p>
            <a:pPr algn="ctr" indent="0" marL="0">
              <a:buNone/>
            </a:pPr>
            <a:r>
              <a:rPr lang="en-US" sz="1800" b="1" dirty="0">
                <a:solidFill>
                  <a:schemeClr val="tx1"/>
                </a:solidFill>
              </a:rPr>
              <a:t>S</a:t>
            </a:r>
            <a:endParaRPr lang="en-US" sz="1800" dirty="0"/>
          </a:p>
        </p:txBody>
      </p:sp>
      <p:sp>
        <p:nvSpPr>
          <p:cNvPr id="22" name="Match A"/>
          <p:cNvSpPr/>
          <p:nvPr/>
        </p:nvSpPr>
        <p:spPr>
          <a:xfrm>
            <a:off x="1211580" y="2423160"/>
            <a:ext cx="537667" cy="822960"/>
          </a:xfrm>
          <a:prstGeom prst="line">
            <a:avLst/>
          </a:prstGeom>
          <a:noFill/>
          <a:ln w="15875">
            <a:solidFill>
              <a:srgbClr val="404040"/>
            </a:solidFill>
            <a:prstDash val="solid"/>
            <a:tailEnd type="triangle"/>
          </a:ln>
        </p:spPr>
      </p:sp>
      <p:sp>
        <p:nvSpPr>
          <p:cNvPr id="23" name="Match B"/>
          <p:cNvSpPr/>
          <p:nvPr/>
        </p:nvSpPr>
        <p:spPr>
          <a:xfrm flipH="1">
            <a:off x="1749247" y="2423160"/>
            <a:ext cx="376733" cy="822960"/>
          </a:xfrm>
          <a:prstGeom prst="line">
            <a:avLst/>
          </a:prstGeom>
          <a:noFill/>
          <a:ln w="15875">
            <a:solidFill>
              <a:srgbClr val="404040"/>
            </a:solidFill>
            <a:prstDash val="solid"/>
            <a:tailEnd type="triangle"/>
          </a:ln>
        </p:spPr>
      </p:sp>
      <p:sp>
        <p:nvSpPr>
          <p:cNvPr id="24" name="Match C"/>
          <p:cNvSpPr/>
          <p:nvPr/>
        </p:nvSpPr>
        <p:spPr>
          <a:xfrm flipH="1">
            <a:off x="2892247" y="2423160"/>
            <a:ext cx="148133" cy="822960"/>
          </a:xfrm>
          <a:prstGeom prst="line">
            <a:avLst/>
          </a:prstGeom>
          <a:noFill/>
          <a:ln w="15875">
            <a:solidFill>
              <a:srgbClr val="404040"/>
            </a:solidFill>
            <a:prstDash val="solid"/>
            <a:tailEnd type="triangle"/>
          </a:ln>
        </p:spPr>
      </p:sp>
      <p:sp>
        <p:nvSpPr>
          <p:cNvPr id="25" name="Match D"/>
          <p:cNvSpPr/>
          <p:nvPr/>
        </p:nvSpPr>
        <p:spPr>
          <a:xfrm>
            <a:off x="3954780" y="2423160"/>
            <a:ext cx="80467" cy="822960"/>
          </a:xfrm>
          <a:prstGeom prst="line">
            <a:avLst/>
          </a:prstGeom>
          <a:noFill/>
          <a:ln w="15875">
            <a:solidFill>
              <a:srgbClr val="404040"/>
            </a:solidFill>
            <a:prstDash val="solid"/>
            <a:tailEnd type="triangle"/>
          </a:ln>
        </p:spPr>
      </p:sp>
      <p:sp>
        <p:nvSpPr>
          <p:cNvPr id="26" name="Match E"/>
          <p:cNvSpPr/>
          <p:nvPr/>
        </p:nvSpPr>
        <p:spPr>
          <a:xfrm>
            <a:off x="4869180" y="2423160"/>
            <a:ext cx="309067" cy="822960"/>
          </a:xfrm>
          <a:prstGeom prst="line">
            <a:avLst/>
          </a:prstGeom>
          <a:noFill/>
          <a:ln w="15875">
            <a:solidFill>
              <a:srgbClr val="404040"/>
            </a:solidFill>
            <a:prstDash val="solid"/>
            <a:tailEnd type="triangle"/>
          </a:ln>
        </p:spPr>
      </p:sp>
      <p:sp>
        <p:nvSpPr>
          <p:cNvPr id="27" name="DS2 row label"/>
          <p:cNvSpPr txBox="1"/>
          <p:nvPr/>
        </p:nvSpPr>
        <p:spPr>
          <a:xfrm>
            <a:off x="822960" y="3931920"/>
            <a:ext cx="4572000" cy="320040"/>
          </a:xfrm>
          <a:prstGeom prst="rect">
            <a:avLst/>
          </a:prstGeom>
          <a:noFill/>
          <a:ln/>
        </p:spPr>
        <p:txBody>
          <a:bodyPr wrap="square" lIns="0" tIns="0" rIns="0" bIns="0" rtlCol="0" anchor="t"/>
          <a:lstStyle/>
          <a:p>
            <a:pPr indent="0" marL="0">
              <a:buNone/>
            </a:pPr>
            <a:r>
              <a:rPr lang="en-US" sz="1400" b="1" dirty="0">
                <a:solidFill>
                  <a:schemeClr val="accent3"/>
                </a:solidFill>
              </a:rPr>
              <a:t>DS2 pixels · about 4.6 km</a:t>
            </a:r>
            <a:endParaRPr lang="en-US" sz="1400" dirty="0"/>
          </a:p>
        </p:txBody>
      </p:sp>
      <p:sp>
        <p:nvSpPr>
          <p:cNvPr id="28" name="Matching explanation"/>
          <p:cNvSpPr txBox="1"/>
          <p:nvPr/>
        </p:nvSpPr>
        <p:spPr>
          <a:xfrm>
            <a:off x="548640" y="4572000"/>
            <a:ext cx="5394960" cy="914400"/>
          </a:xfrm>
          <a:prstGeom prst="rect">
            <a:avLst/>
          </a:prstGeom>
          <a:noFill/>
          <a:ln/>
        </p:spPr>
        <p:txBody>
          <a:bodyPr wrap="square" lIns="0" tIns="0" rIns="0" bIns="0" rtlCol="0" anchor="t"/>
          <a:lstStyle/>
          <a:p>
            <a:pPr indent="0" marL="0">
              <a:buNone/>
            </a:pPr>
            <a:r>
              <a:rPr lang="en-US" sz="1600" dirty="0">
                <a:solidFill>
                  <a:schemeClr val="tx1"/>
                </a:solidFill>
              </a:rPr>
              <a:t>Each DS1 cell copies the value of the closest DS2 pixel (within 3.5 km). Values are relabelled, not changed.</a:t>
            </a:r>
            <a:endParaRPr lang="en-US" sz="1600" dirty="0"/>
          </a:p>
        </p:txBody>
      </p:sp>
      <p:sp>
        <p:nvSpPr>
          <p:cNvPr id="29" name="Rounding heading"/>
          <p:cNvSpPr txBox="1"/>
          <p:nvPr/>
        </p:nvSpPr>
        <p:spPr>
          <a:xfrm>
            <a:off x="6400800" y="1371600"/>
            <a:ext cx="5239512" cy="411480"/>
          </a:xfrm>
          <a:prstGeom prst="rect">
            <a:avLst/>
          </a:prstGeom>
          <a:noFill/>
          <a:ln/>
        </p:spPr>
        <p:txBody>
          <a:bodyPr wrap="square" lIns="0" tIns="0" rIns="0" bIns="0" rtlCol="0" anchor="t"/>
          <a:lstStyle/>
          <a:p>
            <a:pPr indent="0" marL="0">
              <a:buNone/>
            </a:pPr>
            <a:r>
              <a:rPr lang="en-US" sz="2000" b="1" dirty="0">
                <a:solidFill>
                  <a:schemeClr val="tx1"/>
                </a:solidFill>
              </a:rPr>
              <a:t>Why not just round coordinates?</a:t>
            </a:r>
            <a:endParaRPr lang="en-US" sz="2000" dirty="0"/>
          </a:p>
        </p:txBody>
      </p:sp>
      <p:sp>
        <p:nvSpPr>
          <p:cNvPr id="30" name="Rounding explanation"/>
          <p:cNvSpPr txBox="1"/>
          <p:nvPr/>
        </p:nvSpPr>
        <p:spPr>
          <a:xfrm>
            <a:off x="6400800" y="1874520"/>
            <a:ext cx="5239512" cy="777240"/>
          </a:xfrm>
          <a:prstGeom prst="rect">
            <a:avLst/>
          </a:prstGeom>
          <a:noFill/>
          <a:ln/>
        </p:spPr>
        <p:txBody>
          <a:bodyPr wrap="square" lIns="0" tIns="0" rIns="0" bIns="0" rtlCol="0" anchor="t"/>
          <a:lstStyle/>
          <a:p>
            <a:pPr indent="0" marL="0">
              <a:buNone/>
            </a:pPr>
            <a:r>
              <a:rPr lang="en-US" sz="1600" dirty="0">
                <a:solidFill>
                  <a:schemeClr val="tx1"/>
                </a:solidFill>
              </a:rPr>
              <a:t>DS1's points sit exactly halfway between multiples of 0.0375, so rounding gives two neighbours the same label:</a:t>
            </a:r>
            <a:endParaRPr lang="en-US" sz="1600" dirty="0"/>
          </a:p>
        </p:txBody>
      </p:sp>
      <p:graphicFrame>
        <p:nvGraphicFramePr>
          <p:cNvPr id="7" name="Rounding collision table"/>
          <p:cNvGraphicFramePr>
            <a:graphicFrameLocks noGrp="1"/>
          </p:cNvGraphicFramePr>
          <p:nvPr>
            <p:extLst>
              <p:ext uri="{D42A27DB-BD31-4B8C-83A1-F6EECF244321}">
                <p14:modId xmlns:p14="http://schemas.microsoft.com/office/powerpoint/2010/main" val="1579011935"/>
              </p:ext>
            </p:extLst>
          </p:nvPr>
        </p:nvGraphicFramePr>
        <p:xfrm>
          <a:off x="6400800" y="2788920"/>
          <a:ext cx="5239512" cy="914400"/>
        </p:xfrm>
        <a:graphic>
          <a:graphicData uri="http://schemas.openxmlformats.org/drawingml/2006/table">
            <a:tbl>
              <a:tblPr/>
              <a:tblGrid>
                <a:gridCol w="1737360"/>
                <a:gridCol w="1463040"/>
                <a:gridCol w="2039112"/>
              </a:tblGrid>
              <a:tr h="384048">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DS1 latitude</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 0.0375</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rounded</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r>
              <a:tr h="38404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26.49375</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706.5</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706</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26.53125</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707.5</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708</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26.56875</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708.5</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708 (same label)</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32" name="Matching result"/>
          <p:cNvSpPr txBox="1"/>
          <p:nvPr/>
        </p:nvSpPr>
        <p:spPr>
          <a:xfrm>
            <a:off x="6400800" y="4572000"/>
            <a:ext cx="5239512" cy="640080"/>
          </a:xfrm>
          <a:prstGeom prst="rect">
            <a:avLst/>
          </a:prstGeom>
          <a:noFill/>
          <a:ln/>
        </p:spPr>
        <p:txBody>
          <a:bodyPr wrap="square" lIns="0" tIns="0" rIns="0" bIns="0" rtlCol="0" anchor="t"/>
          <a:lstStyle/>
          <a:p>
            <a:pPr indent="0" marL="0">
              <a:buNone/>
            </a:pPr>
            <a:r>
              <a:rPr lang="en-US" sz="1600" dirty="0">
                <a:solidFill>
                  <a:schemeClr val="tx1"/>
                </a:solidFill>
              </a:rPr>
              <a:t>Nearest-distance matching: </a:t>
            </a:r>
            <a:pPr indent="0" marL="0">
              <a:buNone/>
            </a:pPr>
            <a:r>
              <a:rPr lang="en-US" sz="1600" b="1" dirty="0">
                <a:solidFill>
                  <a:schemeClr val="tx1"/>
                </a:solidFill>
              </a:rPr>
              <a:t>0 duplicates</a:t>
            </a:r>
            <a:pPr indent="0" marL="0">
              <a:buNone/>
            </a:pPr>
            <a:r>
              <a:rPr lang="en-US" sz="1600" dirty="0">
                <a:solidFill>
                  <a:schemeClr val="tx1"/>
                </a:solidFill>
              </a:rPr>
              <a:t>, median 1.6 km apart.</a:t>
            </a:r>
            <a:endParaRPr lang="en-US" sz="1600" dirty="0"/>
          </a:p>
        </p:txBody>
      </p:sp>
      <p:sp>
        <p:nvSpPr>
          <p:cNvPr id="33" name="Source"/>
          <p:cNvSpPr txBox="1"/>
          <p:nvPr/>
        </p:nvSpPr>
        <p:spPr>
          <a:xfrm>
            <a:off x="548640" y="6355080"/>
            <a:ext cx="10424160" cy="274320"/>
          </a:xfrm>
          <a:prstGeom prst="rect">
            <a:avLst/>
          </a:prstGeom>
          <a:noFill/>
          <a:ln/>
        </p:spPr>
        <p:txBody>
          <a:bodyPr wrap="square" lIns="0" tIns="0" rIns="0" bIns="0" rtlCol="0" anchor="t"/>
          <a:lstStyle/>
          <a:p>
            <a:pPr indent="0" marL="0">
              <a:buNone/>
            </a:pPr>
            <a:r>
              <a:rPr lang="en-US" sz="1100" dirty="0">
                <a:solidFill>
                  <a:schemeClr val="accent2"/>
                </a:solidFill>
              </a:rPr>
              <a:t>Source: compare_chlorophyll_datasets.ipynb, section 2.3 · merge_chlorophyll.ipynb, stage 2</a:t>
            </a:r>
            <a:endParaRPr lang="en-US" sz="11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Problem 2: same place, same day, different reading</a:t>
            </a:r>
            <a:endParaRPr lang="en-US" sz="3200" dirty="0"/>
          </a:p>
        </p:txBody>
      </p:sp>
      <p:pic>
        <p:nvPicPr>
          <p:cNvPr id="3" name="Matched pixel plot" descr="Density plot of DS1 against DS2 log10 chlorophyll for matched pixel-days: a tight diagonal band sitting slightly below the 1:1 line">    </p:cNvPr>
          <p:cNvPicPr>
            <a:picLocks noChangeAspect="1"/>
          </p:cNvPicPr>
          <p:nvPr/>
        </p:nvPicPr>
        <p:blipFill>
          <a:blip r:embed="rId1"/>
          <a:stretch>
            <a:fillRect/>
          </a:stretch>
        </p:blipFill>
        <p:spPr>
          <a:xfrm>
            <a:off x="548640" y="1280160"/>
            <a:ext cx="4828032" cy="4754880"/>
          </a:xfrm>
          <a:prstGeom prst="rect">
            <a:avLst/>
          </a:prstGeom>
        </p:spPr>
      </p:pic>
      <p:sp>
        <p:nvSpPr>
          <p:cNvPr id="4" name="Correlation value"/>
          <p:cNvSpPr txBox="1"/>
          <p:nvPr/>
        </p:nvSpPr>
        <p:spPr>
          <a:xfrm>
            <a:off x="5943600" y="1371600"/>
            <a:ext cx="5669280" cy="777240"/>
          </a:xfrm>
          <a:prstGeom prst="rect">
            <a:avLst/>
          </a:prstGeom>
          <a:noFill/>
          <a:ln/>
        </p:spPr>
        <p:txBody>
          <a:bodyPr wrap="square" lIns="0" tIns="0" rIns="0" bIns="0" rtlCol="0" anchor="b"/>
          <a:lstStyle/>
          <a:p>
            <a:pPr indent="0" marL="0">
              <a:buNone/>
            </a:pPr>
            <a:r>
              <a:rPr lang="en-US" sz="4800" b="1" dirty="0">
                <a:solidFill>
                  <a:schemeClr val="tx2"/>
                </a:solidFill>
              </a:rPr>
              <a:t>0.96</a:t>
            </a:r>
            <a:endParaRPr lang="en-US" sz="4800" dirty="0"/>
          </a:p>
        </p:txBody>
      </p:sp>
      <p:sp>
        <p:nvSpPr>
          <p:cNvPr id="5" name="Correlation label"/>
          <p:cNvSpPr txBox="1"/>
          <p:nvPr/>
        </p:nvSpPr>
        <p:spPr>
          <a:xfrm>
            <a:off x="5943600" y="2194560"/>
            <a:ext cx="5669280" cy="914400"/>
          </a:xfrm>
          <a:prstGeom prst="rect">
            <a:avLst/>
          </a:prstGeom>
          <a:noFill/>
          <a:ln/>
        </p:spPr>
        <p:txBody>
          <a:bodyPr wrap="square" lIns="0" tIns="0" rIns="0" bIns="0" rtlCol="0" anchor="t"/>
          <a:lstStyle/>
          <a:p>
            <a:pPr indent="0" marL="0">
              <a:buNone/>
            </a:pPr>
            <a:r>
              <a:rPr lang="en-US" sz="1600" dirty="0">
                <a:solidFill>
                  <a:schemeClr val="accent3"/>
                </a:solidFill>
              </a:rPr>
              <a:t>correlation (log10): they rise and fall together</a:t>
            </a:r>
            <a:endParaRPr lang="en-US" sz="1600" dirty="0"/>
          </a:p>
        </p:txBody>
      </p:sp>
      <p:sp>
        <p:nvSpPr>
          <p:cNvPr id="6" name="Average gap value"/>
          <p:cNvSpPr txBox="1"/>
          <p:nvPr/>
        </p:nvSpPr>
        <p:spPr>
          <a:xfrm>
            <a:off x="5943600" y="3017520"/>
            <a:ext cx="5669280" cy="777240"/>
          </a:xfrm>
          <a:prstGeom prst="rect">
            <a:avLst/>
          </a:prstGeom>
          <a:noFill/>
          <a:ln/>
        </p:spPr>
        <p:txBody>
          <a:bodyPr wrap="square" lIns="0" tIns="0" rIns="0" bIns="0" rtlCol="0" anchor="b"/>
          <a:lstStyle/>
          <a:p>
            <a:pPr indent="0" marL="0">
              <a:buNone/>
            </a:pPr>
            <a:r>
              <a:rPr lang="en-US" sz="4800" b="1" dirty="0">
                <a:solidFill>
                  <a:schemeClr val="tx2"/>
                </a:solidFill>
              </a:rPr>
              <a:t>~8%</a:t>
            </a:r>
            <a:endParaRPr lang="en-US" sz="4800" dirty="0"/>
          </a:p>
        </p:txBody>
      </p:sp>
      <p:sp>
        <p:nvSpPr>
          <p:cNvPr id="7" name="Average gap label"/>
          <p:cNvSpPr txBox="1"/>
          <p:nvPr/>
        </p:nvSpPr>
        <p:spPr>
          <a:xfrm>
            <a:off x="5943600" y="3840480"/>
            <a:ext cx="5669280" cy="914400"/>
          </a:xfrm>
          <a:prstGeom prst="rect">
            <a:avLst/>
          </a:prstGeom>
          <a:noFill/>
          <a:ln/>
        </p:spPr>
        <p:txBody>
          <a:bodyPr wrap="square" lIns="0" tIns="0" rIns="0" bIns="0" rtlCol="0" anchor="t"/>
          <a:lstStyle/>
          <a:p>
            <a:pPr indent="0" marL="0">
              <a:buNone/>
            </a:pPr>
            <a:r>
              <a:rPr lang="en-US" sz="1600" dirty="0">
                <a:solidFill>
                  <a:schemeClr val="accent3"/>
                </a:solidFill>
              </a:rPr>
              <a:t>DS1 reads lower than DS2 on average (median ratio 0.92)</a:t>
            </a:r>
            <a:endParaRPr lang="en-US" sz="1600" dirty="0"/>
          </a:p>
        </p:txBody>
      </p:sp>
      <p:sp>
        <p:nvSpPr>
          <p:cNvPr id="8" name="Pair count"/>
          <p:cNvSpPr txBox="1"/>
          <p:nvPr/>
        </p:nvSpPr>
        <p:spPr>
          <a:xfrm>
            <a:off x="5943600" y="4846320"/>
            <a:ext cx="5669280" cy="365760"/>
          </a:xfrm>
          <a:prstGeom prst="rect">
            <a:avLst/>
          </a:prstGeom>
          <a:noFill/>
          <a:ln/>
        </p:spPr>
        <p:txBody>
          <a:bodyPr wrap="square" lIns="0" tIns="0" rIns="0" bIns="0" rtlCol="0" anchor="t"/>
          <a:lstStyle/>
          <a:p>
            <a:pPr indent="0" marL="0">
              <a:buNone/>
            </a:pPr>
            <a:r>
              <a:rPr lang="en-US" sz="1400" dirty="0">
                <a:solidFill>
                  <a:schemeClr val="accent2"/>
                </a:solidFill>
              </a:rPr>
              <a:t>110,262 matched pixel-days, Jun 2020 – May 2022</a:t>
            </a:r>
            <a:endParaRPr lang="en-US" sz="1400" dirty="0"/>
          </a:p>
        </p:txBody>
      </p:sp>
      <p:sp>
        <p:nvSpPr>
          <p:cNvPr id="9" name="Source"/>
          <p:cNvSpPr txBox="1"/>
          <p:nvPr/>
        </p:nvSpPr>
        <p:spPr>
          <a:xfrm>
            <a:off x="548640" y="6355080"/>
            <a:ext cx="10424160" cy="274320"/>
          </a:xfrm>
          <a:prstGeom prst="rect">
            <a:avLst/>
          </a:prstGeom>
          <a:noFill/>
          <a:ln/>
        </p:spPr>
        <p:txBody>
          <a:bodyPr wrap="square" lIns="0" tIns="0" rIns="0" bIns="0" rtlCol="0" anchor="t"/>
          <a:lstStyle/>
          <a:p>
            <a:pPr indent="0" marL="0">
              <a:buNone/>
            </a:pPr>
            <a:r>
              <a:rPr lang="en-US" sz="1100" dirty="0">
                <a:solidFill>
                  <a:schemeClr val="accent2"/>
                </a:solidFill>
              </a:rPr>
              <a:t>Source: compare_chlorophyll_datasets.ipynb, section 2.3</a:t>
            </a:r>
            <a:endParaRPr lang="en-US" sz="11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…and the gap is not the same everywhere</a:t>
            </a:r>
            <a:endParaRPr lang="en-US" sz="3200" dirty="0"/>
          </a:p>
        </p:txBody>
      </p:sp>
      <p:graphicFrame>
        <p:nvGraphicFramePr>
          <p:cNvPr id="3" name="Gap by level chart" descr=""/>
          <p:cNvGraphicFramePr/>
          <p:nvPr/>
        </p:nvGraphicFramePr>
        <p:xfrm>
          <a:off x="548640" y="1280160"/>
          <a:ext cx="667512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Gap by season chart" descr=""/>
          <p:cNvGraphicFramePr/>
          <p:nvPr/>
        </p:nvGraphicFramePr>
        <p:xfrm>
          <a:off x="7406640" y="1280160"/>
          <a:ext cx="4233672" cy="4114800"/>
        </p:xfrm>
        <a:graphic xmlns:a="http://schemas.openxmlformats.org/drawingml/2006/main">
          <a:graphicData uri="http://schemas.openxmlformats.org/drawingml/2006/chart">
            <c:chart xmlns:c="http://schemas.openxmlformats.org/drawingml/2006/chart" r:id="rId2"/>
          </a:graphicData>
        </a:graphic>
      </p:graphicFrame>
      <p:sp>
        <p:nvSpPr>
          <p:cNvPr id="5" name="Gap takeaway"/>
          <p:cNvSpPr txBox="1"/>
          <p:nvPr/>
        </p:nvSpPr>
        <p:spPr>
          <a:xfrm>
            <a:off x="548640" y="5532120"/>
            <a:ext cx="11091672" cy="548640"/>
          </a:xfrm>
          <a:prstGeom prst="rect">
            <a:avLst/>
          </a:prstGeom>
          <a:noFill/>
          <a:ln/>
        </p:spPr>
        <p:txBody>
          <a:bodyPr wrap="square" lIns="0" tIns="0" rIns="0" bIns="0" rtlCol="0" anchor="t"/>
          <a:lstStyle/>
          <a:p>
            <a:pPr indent="0" marL="0">
              <a:buNone/>
            </a:pPr>
            <a:r>
              <a:rPr lang="en-US" sz="1600" dirty="0">
                <a:solidFill>
                  <a:schemeClr val="tx1"/>
                </a:solidFill>
              </a:rPr>
              <a:t>Small in clear water, about 40% at bloom levels, and it shifts with the season. </a:t>
            </a:r>
            <a:pPr indent="0" marL="0">
              <a:buNone/>
            </a:pPr>
            <a:r>
              <a:rPr lang="en-US" sz="1600" b="1" dirty="0">
                <a:solidFill>
                  <a:schemeClr val="tx1"/>
                </a:solidFill>
              </a:rPr>
              <a:t>One correction factor is not enough.</a:t>
            </a:r>
            <a:endParaRPr lang="en-US" sz="1600" dirty="0"/>
          </a:p>
        </p:txBody>
      </p:sp>
      <p:sp>
        <p:nvSpPr>
          <p:cNvPr id="6" name="Source"/>
          <p:cNvSpPr txBox="1"/>
          <p:nvPr/>
        </p:nvSpPr>
        <p:spPr>
          <a:xfrm>
            <a:off x="548640" y="6355080"/>
            <a:ext cx="10424160" cy="274320"/>
          </a:xfrm>
          <a:prstGeom prst="rect">
            <a:avLst/>
          </a:prstGeom>
          <a:noFill/>
          <a:ln/>
        </p:spPr>
        <p:txBody>
          <a:bodyPr wrap="square" lIns="0" tIns="0" rIns="0" bIns="0" rtlCol="0" anchor="t"/>
          <a:lstStyle/>
          <a:p>
            <a:pPr indent="0" marL="0">
              <a:buNone/>
            </a:pPr>
            <a:r>
              <a:rPr lang="en-US" sz="1100" dirty="0">
                <a:solidFill>
                  <a:schemeClr val="accent2"/>
                </a:solidFill>
              </a:rPr>
              <a:t>0 = the datasets agree · Source: compare_chlorophyll_datasets.ipynb, section 2.3</a:t>
            </a:r>
            <a:endParaRPr lang="en-US" sz="11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Problem 3: where the missing values come from</a:t>
            </a:r>
            <a:endParaRPr lang="en-US" sz="3200" dirty="0"/>
          </a:p>
        </p:txBody>
      </p:sp>
      <p:pic>
        <p:nvPicPr>
          <p:cNvPr id="3" name="Valid days map" descr="Maps of the share of days each grid cell has a value: land on the right never has a value, open water has a value on about 35 to 40 percent of days, DS1 also has values inside the bays while DS2 mostly does not">    </p:cNvPr>
          <p:cNvPicPr>
            <a:picLocks noChangeAspect="1"/>
          </p:cNvPicPr>
          <p:nvPr/>
        </p:nvPicPr>
        <p:blipFill>
          <a:blip r:embed="rId1"/>
          <a:stretch>
            <a:fillRect/>
          </a:stretch>
        </p:blipFill>
        <p:spPr>
          <a:xfrm>
            <a:off x="548640" y="1280160"/>
            <a:ext cx="6949440" cy="3474720"/>
          </a:xfrm>
          <a:prstGeom prst="rect">
            <a:avLst/>
          </a:prstGeom>
        </p:spPr>
      </p:pic>
      <p:sp>
        <p:nvSpPr>
          <p:cNvPr id="4" name="Missing stat 1"/>
          <p:cNvSpPr txBox="1"/>
          <p:nvPr/>
        </p:nvSpPr>
        <p:spPr>
          <a:xfrm>
            <a:off x="7863840" y="1280160"/>
            <a:ext cx="3776472" cy="548640"/>
          </a:xfrm>
          <a:prstGeom prst="rect">
            <a:avLst/>
          </a:prstGeom>
          <a:noFill/>
          <a:ln/>
        </p:spPr>
        <p:txBody>
          <a:bodyPr wrap="square" lIns="0" tIns="0" rIns="0" bIns="0" rtlCol="0" anchor="t"/>
          <a:lstStyle/>
          <a:p>
            <a:pPr indent="0" marL="0">
              <a:buNone/>
            </a:pPr>
            <a:r>
              <a:rPr lang="en-US" sz="3200" b="1" dirty="0">
                <a:solidFill>
                  <a:schemeClr val="tx2"/>
                </a:solidFill>
              </a:rPr>
              <a:t>39–45%</a:t>
            </a:r>
            <a:endParaRPr lang="en-US" sz="3200" dirty="0"/>
          </a:p>
        </p:txBody>
      </p:sp>
      <p:sp>
        <p:nvSpPr>
          <p:cNvPr id="5" name="Missing stat label 1"/>
          <p:cNvSpPr txBox="1"/>
          <p:nvPr/>
        </p:nvSpPr>
        <p:spPr>
          <a:xfrm>
            <a:off x="7863840" y="1828800"/>
            <a:ext cx="3776472" cy="548640"/>
          </a:xfrm>
          <a:prstGeom prst="rect">
            <a:avLst/>
          </a:prstGeom>
          <a:noFill/>
          <a:ln/>
        </p:spPr>
        <p:txBody>
          <a:bodyPr wrap="square" lIns="0" tIns="0" rIns="0" bIns="0" rtlCol="0" anchor="t"/>
          <a:lstStyle/>
          <a:p>
            <a:pPr indent="0" marL="0">
              <a:buNone/>
            </a:pPr>
            <a:r>
              <a:rPr lang="en-US" sz="1400" dirty="0">
                <a:solidFill>
                  <a:schemeClr val="accent3"/>
                </a:solidFill>
              </a:rPr>
              <a:t>of empty rows are land: cells never valid on any day</a:t>
            </a:r>
            <a:endParaRPr lang="en-US" sz="1400" dirty="0"/>
          </a:p>
        </p:txBody>
      </p:sp>
      <p:sp>
        <p:nvSpPr>
          <p:cNvPr id="6" name="Missing stat 2"/>
          <p:cNvSpPr txBox="1"/>
          <p:nvPr/>
        </p:nvSpPr>
        <p:spPr>
          <a:xfrm>
            <a:off x="7863840" y="2468880"/>
            <a:ext cx="3776472" cy="548640"/>
          </a:xfrm>
          <a:prstGeom prst="rect">
            <a:avLst/>
          </a:prstGeom>
          <a:noFill/>
          <a:ln/>
        </p:spPr>
        <p:txBody>
          <a:bodyPr wrap="square" lIns="0" tIns="0" rIns="0" bIns="0" rtlCol="0" anchor="t"/>
          <a:lstStyle/>
          <a:p>
            <a:pPr indent="0" marL="0">
              <a:buNone/>
            </a:pPr>
            <a:r>
              <a:rPr lang="en-US" sz="3200" b="1" dirty="0">
                <a:solidFill>
                  <a:schemeClr val="tx2"/>
                </a:solidFill>
              </a:rPr>
              <a:t>11–19%</a:t>
            </a:r>
            <a:endParaRPr lang="en-US" sz="3200" dirty="0"/>
          </a:p>
        </p:txBody>
      </p:sp>
      <p:sp>
        <p:nvSpPr>
          <p:cNvPr id="7" name="Missing stat label 2"/>
          <p:cNvSpPr txBox="1"/>
          <p:nvPr/>
        </p:nvSpPr>
        <p:spPr>
          <a:xfrm>
            <a:off x="7863840" y="3017520"/>
            <a:ext cx="3776472" cy="548640"/>
          </a:xfrm>
          <a:prstGeom prst="rect">
            <a:avLst/>
          </a:prstGeom>
          <a:noFill/>
          <a:ln/>
        </p:spPr>
        <p:txBody>
          <a:bodyPr wrap="square" lIns="0" tIns="0" rIns="0" bIns="0" rtlCol="0" anchor="t"/>
          <a:lstStyle/>
          <a:p>
            <a:pPr indent="0" marL="0">
              <a:buNone/>
            </a:pPr>
            <a:r>
              <a:rPr lang="en-US" sz="1400" dirty="0">
                <a:solidFill>
                  <a:schemeClr val="accent3"/>
                </a:solidFill>
              </a:rPr>
              <a:t>of days with data near the coast, vs 35–40% offshore</a:t>
            </a:r>
            <a:endParaRPr lang="en-US" sz="1400" dirty="0"/>
          </a:p>
        </p:txBody>
      </p:sp>
      <p:sp>
        <p:nvSpPr>
          <p:cNvPr id="8" name="Missing stat 3"/>
          <p:cNvSpPr txBox="1"/>
          <p:nvPr/>
        </p:nvSpPr>
        <p:spPr>
          <a:xfrm>
            <a:off x="7863840" y="3657600"/>
            <a:ext cx="3776472" cy="548640"/>
          </a:xfrm>
          <a:prstGeom prst="rect">
            <a:avLst/>
          </a:prstGeom>
          <a:noFill/>
          <a:ln/>
        </p:spPr>
        <p:txBody>
          <a:bodyPr wrap="square" lIns="0" tIns="0" rIns="0" bIns="0" rtlCol="0" anchor="t"/>
          <a:lstStyle/>
          <a:p>
            <a:pPr indent="0" marL="0">
              <a:buNone/>
            </a:pPr>
            <a:r>
              <a:rPr lang="en-US" sz="3200" b="1" dirty="0">
                <a:solidFill>
                  <a:schemeClr val="tx2"/>
                </a:solidFill>
              </a:rPr>
              <a:t>Jun–Sep</a:t>
            </a:r>
            <a:endParaRPr lang="en-US" sz="3200" dirty="0"/>
          </a:p>
        </p:txBody>
      </p:sp>
      <p:sp>
        <p:nvSpPr>
          <p:cNvPr id="9" name="Missing stat label 3"/>
          <p:cNvSpPr txBox="1"/>
          <p:nvPr/>
        </p:nvSpPr>
        <p:spPr>
          <a:xfrm>
            <a:off x="7863840" y="4206240"/>
            <a:ext cx="3776472" cy="548640"/>
          </a:xfrm>
          <a:prstGeom prst="rect">
            <a:avLst/>
          </a:prstGeom>
          <a:noFill/>
          <a:ln/>
        </p:spPr>
        <p:txBody>
          <a:bodyPr wrap="square" lIns="0" tIns="0" rIns="0" bIns="0" rtlCol="0" anchor="t"/>
          <a:lstStyle/>
          <a:p>
            <a:pPr indent="0" marL="0">
              <a:buNone/>
            </a:pPr>
            <a:r>
              <a:rPr lang="en-US" sz="1400" dirty="0">
                <a:solidFill>
                  <a:schemeClr val="accent3"/>
                </a:solidFill>
              </a:rPr>
              <a:t>most gaps in water: Florida's rainy season</a:t>
            </a:r>
            <a:endParaRPr lang="en-US" sz="1400" dirty="0"/>
          </a:p>
        </p:txBody>
      </p:sp>
      <p:sp>
        <p:nvSpPr>
          <p:cNvPr id="10" name="Missing takeaway"/>
          <p:cNvSpPr txBox="1"/>
          <p:nvPr/>
        </p:nvSpPr>
        <p:spPr>
          <a:xfrm>
            <a:off x="548640" y="5074920"/>
            <a:ext cx="11091672" cy="640080"/>
          </a:xfrm>
          <a:prstGeom prst="rect">
            <a:avLst/>
          </a:prstGeom>
          <a:noFill/>
          <a:ln/>
        </p:spPr>
        <p:txBody>
          <a:bodyPr wrap="square" lIns="0" tIns="0" rIns="0" bIns="0" rtlCol="0" anchor="t"/>
          <a:lstStyle/>
          <a:p>
            <a:pPr indent="0" marL="0">
              <a:buNone/>
            </a:pPr>
            <a:r>
              <a:rPr lang="en-US" sz="1600" dirty="0">
                <a:solidFill>
                  <a:schemeClr val="tx1"/>
                </a:solidFill>
              </a:rPr>
              <a:t>A missing value is a pixel removed by quality masks: land, cloud, stray light, sun glint or failed atmospheric correction.</a:t>
            </a:r>
            <a:endParaRPr lang="en-US" sz="1600" dirty="0"/>
          </a:p>
        </p:txBody>
      </p:sp>
      <p:sp>
        <p:nvSpPr>
          <p:cNvPr id="11" name="Source"/>
          <p:cNvSpPr txBox="1"/>
          <p:nvPr/>
        </p:nvSpPr>
        <p:spPr>
          <a:xfrm>
            <a:off x="548640" y="6355080"/>
            <a:ext cx="10424160" cy="274320"/>
          </a:xfrm>
          <a:prstGeom prst="rect">
            <a:avLst/>
          </a:prstGeom>
          <a:noFill/>
          <a:ln/>
        </p:spPr>
        <p:txBody>
          <a:bodyPr wrap="square" lIns="0" tIns="0" rIns="0" bIns="0" rtlCol="0" anchor="t"/>
          <a:lstStyle/>
          <a:p>
            <a:pPr indent="0" marL="0">
              <a:buNone/>
            </a:pPr>
            <a:r>
              <a:rPr lang="en-US" sz="1100" dirty="0">
                <a:solidFill>
                  <a:schemeClr val="accent2"/>
                </a:solidFill>
              </a:rPr>
              <a:t>Sources: notebook section 2.4 · Hu et al. (NOAA/USF) · NWS Tampa Bay · global-land-mask (GLOBE 1 km)</a:t>
            </a:r>
            <a:endParaRPr lang="en-US" sz="11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Fix: how we handle missing values</a:t>
            </a:r>
            <a:endParaRPr lang="en-US" sz="3200" dirty="0"/>
          </a:p>
        </p:txBody>
      </p:sp>
      <p:graphicFrame>
        <p:nvGraphicFramePr>
          <p:cNvPr id="11" name="Missing value rules"/>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834640"/>
                <a:gridCol w="5120640"/>
                <a:gridCol w="3136392"/>
              </a:tblGrid>
              <a:tr h="640080">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Situation</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Evidence</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What we do</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r>
              <a:tr h="6400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Never-valid cells</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100% (DS1) / 97% (DS2) centred on land; none pure water</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Drop</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Coastal cells (&lt; 10 km from land)</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Data on 11–19% of days; light from land contaminates water pixels</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Keep, flag as coastal</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Gaps in water cells</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Clouds, stray light, sun glint; peak in the rainy season</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Leave as "no observation"</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Fill with mean or median</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Would erase blooms; masks may hide dense blooms more often</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Never</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For the model (next step)</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3×3 cells over the past 8 days gives a value ~90% of the time</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Backward-looking window + missing flag</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Source"/>
          <p:cNvSpPr txBox="1"/>
          <p:nvPr/>
        </p:nvSpPr>
        <p:spPr>
          <a:xfrm>
            <a:off x="548640" y="6355080"/>
            <a:ext cx="10424160" cy="274320"/>
          </a:xfrm>
          <a:prstGeom prst="rect">
            <a:avLst/>
          </a:prstGeom>
          <a:noFill/>
          <a:ln/>
        </p:spPr>
        <p:txBody>
          <a:bodyPr wrap="square" lIns="0" tIns="0" rIns="0" bIns="0" rtlCol="0" anchor="t"/>
          <a:lstStyle/>
          <a:p>
            <a:pPr indent="0" marL="0">
              <a:buNone/>
            </a:pPr>
            <a:r>
              <a:rPr lang="en-US" sz="1100" dirty="0">
                <a:solidFill>
                  <a:schemeClr val="accent2"/>
                </a:solidFill>
              </a:rPr>
              <a:t>Sources: notebook section 2.4 · Bulgarelli &amp; Zibordi 2018 · Houskeeper &amp; Kudela</a:t>
            </a:r>
            <a:endParaRPr lang="en-US" sz="11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Problem 4: extreme values and a long tail</a:t>
            </a:r>
            <a:endParaRPr lang="en-US" sz="3200" dirty="0"/>
          </a:p>
        </p:txBody>
      </p:sp>
      <p:graphicFrame>
        <p:nvGraphicFramePr>
          <p:cNvPr id="12" name="Limit values table"/>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2743200"/>
                <a:gridCol w="1371600"/>
                <a:gridCol w="1920240"/>
              </a:tblGrid>
              <a:tr h="411480">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Values</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How many</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Action</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r>
              <a:tr h="4114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 99 mg m⁻³ (top limit)</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10 each</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Keep + flag</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&lt; 0.01 (DS1 only)</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Set to missing</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Everything else</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~2.4 million</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Keep, use log10</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pic>
        <p:nvPicPr>
          <p:cNvPr id="4" name="Value histograms" descr="Histograms of log10 chlorophyll for DS1 and DS2: most values near 0.3 mg per cubic metre, a long right tail, and a sharp cliff at 100">    </p:cNvPr>
          <p:cNvPicPr>
            <a:picLocks noChangeAspect="1"/>
          </p:cNvPicPr>
          <p:nvPr/>
        </p:nvPicPr>
        <p:blipFill>
          <a:blip r:embed="rId1"/>
          <a:stretch>
            <a:fillRect/>
          </a:stretch>
        </p:blipFill>
        <p:spPr>
          <a:xfrm>
            <a:off x="548640" y="3337560"/>
            <a:ext cx="6035040" cy="2359152"/>
          </a:xfrm>
          <a:prstGeom prst="rect">
            <a:avLst/>
          </a:prstGeom>
        </p:spPr>
      </p:pic>
      <p:sp>
        <p:nvSpPr>
          <p:cNvPr id="5" name="IQR heading"/>
          <p:cNvSpPr txBox="1"/>
          <p:nvPr/>
        </p:nvSpPr>
        <p:spPr>
          <a:xfrm>
            <a:off x="6949440" y="1371600"/>
            <a:ext cx="4690872" cy="411480"/>
          </a:xfrm>
          <a:prstGeom prst="rect">
            <a:avLst/>
          </a:prstGeom>
          <a:noFill/>
          <a:ln/>
        </p:spPr>
        <p:txBody>
          <a:bodyPr wrap="square" lIns="0" tIns="0" rIns="0" bIns="0" rtlCol="0" anchor="t"/>
          <a:lstStyle/>
          <a:p>
            <a:pPr indent="0" marL="0">
              <a:buNone/>
            </a:pPr>
            <a:r>
              <a:rPr lang="en-US" sz="2000" b="1" dirty="0">
                <a:solidFill>
                  <a:schemeClr val="tx1"/>
                </a:solidFill>
              </a:rPr>
              <a:t>Why not the IQR rule or winsorizing?</a:t>
            </a:r>
            <a:endParaRPr lang="en-US" sz="2000" dirty="0"/>
          </a:p>
        </p:txBody>
      </p:sp>
      <p:sp>
        <p:nvSpPr>
          <p:cNvPr id="6" name="IQR value"/>
          <p:cNvSpPr txBox="1"/>
          <p:nvPr/>
        </p:nvSpPr>
        <p:spPr>
          <a:xfrm>
            <a:off x="6949440" y="1828800"/>
            <a:ext cx="4690872" cy="777240"/>
          </a:xfrm>
          <a:prstGeom prst="rect">
            <a:avLst/>
          </a:prstGeom>
          <a:noFill/>
          <a:ln/>
        </p:spPr>
        <p:txBody>
          <a:bodyPr wrap="square" lIns="0" tIns="0" rIns="0" bIns="0" rtlCol="0" anchor="b"/>
          <a:lstStyle/>
          <a:p>
            <a:pPr indent="0" marL="0">
              <a:buNone/>
            </a:pPr>
            <a:r>
              <a:rPr lang="en-US" sz="4800" b="1" dirty="0">
                <a:solidFill>
                  <a:schemeClr val="tx2"/>
                </a:solidFill>
              </a:rPr>
              <a:t>1 in 8</a:t>
            </a:r>
            <a:endParaRPr lang="en-US" sz="4800" dirty="0"/>
          </a:p>
        </p:txBody>
      </p:sp>
      <p:sp>
        <p:nvSpPr>
          <p:cNvPr id="7" name="IQR label"/>
          <p:cNvSpPr txBox="1"/>
          <p:nvPr/>
        </p:nvSpPr>
        <p:spPr>
          <a:xfrm>
            <a:off x="6949440" y="2651760"/>
            <a:ext cx="4690872" cy="914400"/>
          </a:xfrm>
          <a:prstGeom prst="rect">
            <a:avLst/>
          </a:prstGeom>
          <a:noFill/>
          <a:ln/>
        </p:spPr>
        <p:txBody>
          <a:bodyPr wrap="square" lIns="0" tIns="0" rIns="0" bIns="0" rtlCol="0" anchor="t"/>
          <a:lstStyle/>
          <a:p>
            <a:pPr indent="0" marL="0">
              <a:buNone/>
            </a:pPr>
            <a:r>
              <a:rPr lang="en-US" sz="1600" dirty="0">
                <a:solidFill>
                  <a:schemeClr val="accent3"/>
                </a:solidFill>
              </a:rPr>
              <a:t>pixels the IQR rule would delete, including every value ≥ 10 mg m⁻³: the blooms we want to predict</a:t>
            </a:r>
            <a:endParaRPr lang="en-US" sz="1600" dirty="0"/>
          </a:p>
        </p:txBody>
      </p:sp>
      <p:sp>
        <p:nvSpPr>
          <p:cNvPr id="8" name="Log reason"/>
          <p:cNvSpPr txBox="1"/>
          <p:nvPr/>
        </p:nvSpPr>
        <p:spPr>
          <a:xfrm>
            <a:off x="6949440" y="4206240"/>
            <a:ext cx="4690872" cy="914400"/>
          </a:xfrm>
          <a:prstGeom prst="rect">
            <a:avLst/>
          </a:prstGeom>
          <a:noFill/>
          <a:ln/>
        </p:spPr>
        <p:txBody>
          <a:bodyPr wrap="square" lIns="0" tIns="0" rIns="0" bIns="0" rtlCol="0" anchor="t"/>
          <a:lstStyle/>
          <a:p>
            <a:pPr indent="0" marL="0">
              <a:buNone/>
            </a:pPr>
            <a:r>
              <a:rPr lang="en-US" sz="1600" dirty="0">
                <a:solidFill>
                  <a:schemeClr val="tx1"/>
                </a:solidFill>
              </a:rPr>
              <a:t>Log10 instead: the satellite algorithm itself works in log space, and chlorophyll is roughly log-normal.</a:t>
            </a:r>
            <a:endParaRPr lang="en-US" sz="1600" dirty="0"/>
          </a:p>
        </p:txBody>
      </p:sp>
      <p:sp>
        <p:nvSpPr>
          <p:cNvPr id="9" name="Source"/>
          <p:cNvSpPr txBox="1"/>
          <p:nvPr/>
        </p:nvSpPr>
        <p:spPr>
          <a:xfrm>
            <a:off x="548640" y="6355080"/>
            <a:ext cx="10424160" cy="274320"/>
          </a:xfrm>
          <a:prstGeom prst="rect">
            <a:avLst/>
          </a:prstGeom>
          <a:noFill/>
          <a:ln/>
        </p:spPr>
        <p:txBody>
          <a:bodyPr wrap="square" lIns="0" tIns="0" rIns="0" bIns="0" rtlCol="0" anchor="t"/>
          <a:lstStyle/>
          <a:p>
            <a:pPr indent="0" marL="0">
              <a:buNone/>
            </a:pPr>
            <a:r>
              <a:rPr lang="en-US" sz="1100" dirty="0">
                <a:solidFill>
                  <a:schemeClr val="accent2"/>
                </a:solidFill>
              </a:rPr>
              <a:t>Sources: notebook section 2.5 · NASA OBPG chlor_a ATBD (2023) · Campbell 1995</a:t>
            </a:r>
            <a:endParaRPr lang="en-US" sz="11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The merge pipeline</a:t>
            </a:r>
            <a:endParaRPr lang="en-US" sz="3200" dirty="0"/>
          </a:p>
        </p:txBody>
      </p:sp>
      <p:sp>
        <p:nvSpPr>
          <p:cNvPr id="3" name="Stage box 1"/>
          <p:cNvSpPr/>
          <p:nvPr/>
        </p:nvSpPr>
        <p:spPr>
          <a:xfrm>
            <a:off x="548640" y="1737360"/>
            <a:ext cx="1965960" cy="2560320"/>
          </a:xfrm>
          <a:prstGeom prst="rect">
            <a:avLst/>
          </a:prstGeom>
          <a:solidFill>
            <a:schemeClr val="bg2"/>
          </a:solidFill>
          <a:ln w="12700">
            <a:solidFill>
              <a:schemeClr val="bg2"/>
            </a:solidFill>
            <a:prstDash val="solid"/>
          </a:ln>
        </p:spPr>
      </p:sp>
      <p:sp>
        <p:nvSpPr>
          <p:cNvPr id="4" name="Stage text 1"/>
          <p:cNvSpPr txBox="1"/>
          <p:nvPr/>
        </p:nvSpPr>
        <p:spPr>
          <a:xfrm>
            <a:off x="731520" y="1920240"/>
            <a:ext cx="1600200" cy="2240280"/>
          </a:xfrm>
          <a:prstGeom prst="rect">
            <a:avLst/>
          </a:prstGeom>
          <a:noFill/>
          <a:ln/>
        </p:spPr>
        <p:txBody>
          <a:bodyPr wrap="square" lIns="0" tIns="0" rIns="0" bIns="0" rtlCol="0" anchor="t"/>
          <a:lstStyle/>
          <a:p>
            <a:pPr indent="0" marL="0">
              <a:buNone/>
            </a:pPr>
            <a:r>
              <a:rPr lang="en-US" sz="1200" b="1" dirty="0">
                <a:solidFill>
                  <a:schemeClr val="accent2"/>
                </a:solidFill>
              </a:rPr>
              <a:t>STAGE 1</a:t>
            </a:r>
            <a:endParaRPr lang="en-US" sz="1600" dirty="0"/>
          </a:p>
          <a:p>
            <a:pPr indent="0" marL="0">
              <a:spcBef>
                <a:spcPts val="400"/>
              </a:spcBef>
              <a:buNone/>
            </a:pPr>
            <a:r>
              <a:rPr lang="en-US" sz="2000" b="1" dirty="0">
                <a:solidFill>
                  <a:schemeClr val="tx1"/>
                </a:solidFill>
              </a:rPr>
              <a:t>Clean</a:t>
            </a:r>
            <a:endParaRPr lang="en-US" sz="1600" dirty="0"/>
          </a:p>
          <a:p>
            <a:pPr indent="0" marL="0">
              <a:spcBef>
                <a:spcPts val="800"/>
              </a:spcBef>
              <a:buNone/>
            </a:pPr>
            <a:r>
              <a:rPr lang="en-US" sz="1400" dirty="0">
                <a:solidFill>
                  <a:schemeClr val="accent3"/>
                </a:solidFill>
              </a:rPr>
              <a:t>Longitude − 360, drop land, flag coast and limits, add log10</a:t>
            </a:r>
            <a:endParaRPr lang="en-US" sz="1600" dirty="0"/>
          </a:p>
        </p:txBody>
      </p:sp>
      <p:sp>
        <p:nvSpPr>
          <p:cNvPr id="5" name="Arrow 1"/>
          <p:cNvSpPr/>
          <p:nvPr/>
        </p:nvSpPr>
        <p:spPr>
          <a:xfrm>
            <a:off x="2560320" y="3017520"/>
            <a:ext cx="228600" cy="0"/>
          </a:xfrm>
          <a:prstGeom prst="line">
            <a:avLst/>
          </a:prstGeom>
          <a:noFill/>
          <a:ln w="19050">
            <a:solidFill>
              <a:srgbClr val="404040"/>
            </a:solidFill>
            <a:prstDash val="solid"/>
            <a:tailEnd type="triangle"/>
          </a:ln>
        </p:spPr>
      </p:sp>
      <p:sp>
        <p:nvSpPr>
          <p:cNvPr id="6" name="Stage box 2"/>
          <p:cNvSpPr/>
          <p:nvPr/>
        </p:nvSpPr>
        <p:spPr>
          <a:xfrm>
            <a:off x="2834640" y="1737360"/>
            <a:ext cx="1965960" cy="2560320"/>
          </a:xfrm>
          <a:prstGeom prst="rect">
            <a:avLst/>
          </a:prstGeom>
          <a:solidFill>
            <a:schemeClr val="bg2"/>
          </a:solidFill>
          <a:ln w="12700">
            <a:solidFill>
              <a:schemeClr val="bg2"/>
            </a:solidFill>
            <a:prstDash val="solid"/>
          </a:ln>
        </p:spPr>
      </p:sp>
      <p:sp>
        <p:nvSpPr>
          <p:cNvPr id="7" name="Stage text 2"/>
          <p:cNvSpPr txBox="1"/>
          <p:nvPr/>
        </p:nvSpPr>
        <p:spPr>
          <a:xfrm>
            <a:off x="3017520" y="1920240"/>
            <a:ext cx="1600200" cy="2240280"/>
          </a:xfrm>
          <a:prstGeom prst="rect">
            <a:avLst/>
          </a:prstGeom>
          <a:noFill/>
          <a:ln/>
        </p:spPr>
        <p:txBody>
          <a:bodyPr wrap="square" lIns="0" tIns="0" rIns="0" bIns="0" rtlCol="0" anchor="t"/>
          <a:lstStyle/>
          <a:p>
            <a:pPr indent="0" marL="0">
              <a:buNone/>
            </a:pPr>
            <a:r>
              <a:rPr lang="en-US" sz="1200" b="1" dirty="0">
                <a:solidFill>
                  <a:schemeClr val="accent2"/>
                </a:solidFill>
              </a:rPr>
              <a:t>STAGE 2</a:t>
            </a:r>
            <a:endParaRPr lang="en-US" sz="1600" dirty="0"/>
          </a:p>
          <a:p>
            <a:pPr indent="0" marL="0">
              <a:spcBef>
                <a:spcPts val="400"/>
              </a:spcBef>
              <a:buNone/>
            </a:pPr>
            <a:r>
              <a:rPr lang="en-US" sz="2000" b="1" dirty="0">
                <a:solidFill>
                  <a:schemeClr val="tx1"/>
                </a:solidFill>
              </a:rPr>
              <a:t>Match</a:t>
            </a:r>
            <a:endParaRPr lang="en-US" sz="1600" dirty="0"/>
          </a:p>
          <a:p>
            <a:pPr indent="0" marL="0">
              <a:spcBef>
                <a:spcPts val="800"/>
              </a:spcBef>
              <a:buNone/>
            </a:pPr>
            <a:r>
              <a:rPr lang="en-US" sz="1400" dirty="0">
                <a:solidFill>
                  <a:schemeClr val="accent3"/>
                </a:solidFill>
              </a:rPr>
              <a:t>Each DS1 cell takes its nearest DS2 pixel (within 3.5 km)</a:t>
            </a:r>
            <a:endParaRPr lang="en-US" sz="1600" dirty="0"/>
          </a:p>
        </p:txBody>
      </p:sp>
      <p:sp>
        <p:nvSpPr>
          <p:cNvPr id="8" name="Arrow 2"/>
          <p:cNvSpPr/>
          <p:nvPr/>
        </p:nvSpPr>
        <p:spPr>
          <a:xfrm>
            <a:off x="4846320" y="3017520"/>
            <a:ext cx="228600" cy="0"/>
          </a:xfrm>
          <a:prstGeom prst="line">
            <a:avLst/>
          </a:prstGeom>
          <a:noFill/>
          <a:ln w="19050">
            <a:solidFill>
              <a:srgbClr val="404040"/>
            </a:solidFill>
            <a:prstDash val="solid"/>
            <a:tailEnd type="triangle"/>
          </a:ln>
        </p:spPr>
      </p:sp>
      <p:sp>
        <p:nvSpPr>
          <p:cNvPr id="9" name="Stage box 3"/>
          <p:cNvSpPr/>
          <p:nvPr/>
        </p:nvSpPr>
        <p:spPr>
          <a:xfrm>
            <a:off x="5120640" y="1737360"/>
            <a:ext cx="1965960" cy="2560320"/>
          </a:xfrm>
          <a:prstGeom prst="rect">
            <a:avLst/>
          </a:prstGeom>
          <a:solidFill>
            <a:schemeClr val="bg2"/>
          </a:solidFill>
          <a:ln w="12700">
            <a:solidFill>
              <a:schemeClr val="bg2"/>
            </a:solidFill>
            <a:prstDash val="solid"/>
          </a:ln>
        </p:spPr>
      </p:sp>
      <p:sp>
        <p:nvSpPr>
          <p:cNvPr id="10" name="Stage text 3"/>
          <p:cNvSpPr txBox="1"/>
          <p:nvPr/>
        </p:nvSpPr>
        <p:spPr>
          <a:xfrm>
            <a:off x="5303520" y="1920240"/>
            <a:ext cx="1600200" cy="2240280"/>
          </a:xfrm>
          <a:prstGeom prst="rect">
            <a:avLst/>
          </a:prstGeom>
          <a:noFill/>
          <a:ln/>
        </p:spPr>
        <p:txBody>
          <a:bodyPr wrap="square" lIns="0" tIns="0" rIns="0" bIns="0" rtlCol="0" anchor="t"/>
          <a:lstStyle/>
          <a:p>
            <a:pPr indent="0" marL="0">
              <a:buNone/>
            </a:pPr>
            <a:r>
              <a:rPr lang="en-US" sz="1200" b="1" dirty="0">
                <a:solidFill>
                  <a:schemeClr val="accent2"/>
                </a:solidFill>
              </a:rPr>
              <a:t>STAGE 3</a:t>
            </a:r>
            <a:endParaRPr lang="en-US" sz="1600" dirty="0"/>
          </a:p>
          <a:p>
            <a:pPr indent="0" marL="0">
              <a:spcBef>
                <a:spcPts val="400"/>
              </a:spcBef>
              <a:buNone/>
            </a:pPr>
            <a:r>
              <a:rPr lang="en-US" sz="2000" b="1" dirty="0">
                <a:solidFill>
                  <a:schemeClr val="tx1"/>
                </a:solidFill>
              </a:rPr>
              <a:t>Adjust</a:t>
            </a:r>
            <a:endParaRPr lang="en-US" sz="1600" dirty="0"/>
          </a:p>
          <a:p>
            <a:pPr indent="0" marL="0">
              <a:spcBef>
                <a:spcPts val="800"/>
              </a:spcBef>
              <a:buNone/>
            </a:pPr>
            <a:r>
              <a:rPr lang="en-US" sz="1400" dirty="0">
                <a:solidFill>
                  <a:schemeClr val="accent3"/>
                </a:solidFill>
              </a:rPr>
              <a:t>Quantile mapping fitted on the 2020–22 overlap</a:t>
            </a:r>
            <a:endParaRPr lang="en-US" sz="1600" dirty="0"/>
          </a:p>
        </p:txBody>
      </p:sp>
      <p:sp>
        <p:nvSpPr>
          <p:cNvPr id="11" name="Arrow 3"/>
          <p:cNvSpPr/>
          <p:nvPr/>
        </p:nvSpPr>
        <p:spPr>
          <a:xfrm>
            <a:off x="7132320" y="3017520"/>
            <a:ext cx="228600" cy="0"/>
          </a:xfrm>
          <a:prstGeom prst="line">
            <a:avLst/>
          </a:prstGeom>
          <a:noFill/>
          <a:ln w="19050">
            <a:solidFill>
              <a:srgbClr val="404040"/>
            </a:solidFill>
            <a:prstDash val="solid"/>
            <a:tailEnd type="triangle"/>
          </a:ln>
        </p:spPr>
      </p:sp>
      <p:sp>
        <p:nvSpPr>
          <p:cNvPr id="12" name="Stage box 4"/>
          <p:cNvSpPr/>
          <p:nvPr/>
        </p:nvSpPr>
        <p:spPr>
          <a:xfrm>
            <a:off x="7406640" y="1737360"/>
            <a:ext cx="1965960" cy="2560320"/>
          </a:xfrm>
          <a:prstGeom prst="rect">
            <a:avLst/>
          </a:prstGeom>
          <a:solidFill>
            <a:schemeClr val="bg2"/>
          </a:solidFill>
          <a:ln w="12700">
            <a:solidFill>
              <a:schemeClr val="bg2"/>
            </a:solidFill>
            <a:prstDash val="solid"/>
          </a:ln>
        </p:spPr>
      </p:sp>
      <p:sp>
        <p:nvSpPr>
          <p:cNvPr id="13" name="Stage text 4"/>
          <p:cNvSpPr txBox="1"/>
          <p:nvPr/>
        </p:nvSpPr>
        <p:spPr>
          <a:xfrm>
            <a:off x="7589520" y="1920240"/>
            <a:ext cx="1600200" cy="2240280"/>
          </a:xfrm>
          <a:prstGeom prst="rect">
            <a:avLst/>
          </a:prstGeom>
          <a:noFill/>
          <a:ln/>
        </p:spPr>
        <p:txBody>
          <a:bodyPr wrap="square" lIns="0" tIns="0" rIns="0" bIns="0" rtlCol="0" anchor="t"/>
          <a:lstStyle/>
          <a:p>
            <a:pPr indent="0" marL="0">
              <a:buNone/>
            </a:pPr>
            <a:r>
              <a:rPr lang="en-US" sz="1200" b="1" dirty="0">
                <a:solidFill>
                  <a:schemeClr val="accent2"/>
                </a:solidFill>
              </a:rPr>
              <a:t>STAGE 4</a:t>
            </a:r>
            <a:endParaRPr lang="en-US" sz="1600" dirty="0"/>
          </a:p>
          <a:p>
            <a:pPr indent="0" marL="0">
              <a:spcBef>
                <a:spcPts val="400"/>
              </a:spcBef>
              <a:buNone/>
            </a:pPr>
            <a:r>
              <a:rPr lang="en-US" sz="2000" b="1" dirty="0">
                <a:solidFill>
                  <a:schemeClr val="tx1"/>
                </a:solidFill>
              </a:rPr>
              <a:t>Combine</a:t>
            </a:r>
            <a:endParaRPr lang="en-US" sz="1600" dirty="0"/>
          </a:p>
          <a:p>
            <a:pPr indent="0" marL="0">
              <a:spcBef>
                <a:spcPts val="800"/>
              </a:spcBef>
              <a:buNone/>
            </a:pPr>
            <a:r>
              <a:rPr lang="en-US" sz="1400" dirty="0">
                <a:solidFill>
                  <a:schemeClr val="accent3"/>
                </a:solidFill>
              </a:rPr>
              <a:t>DS1 first, adjusted DS2 fills the rest; save as Parquet</a:t>
            </a:r>
            <a:endParaRPr lang="en-US" sz="1600" dirty="0"/>
          </a:p>
        </p:txBody>
      </p:sp>
      <p:sp>
        <p:nvSpPr>
          <p:cNvPr id="14" name="Arrow 4"/>
          <p:cNvSpPr/>
          <p:nvPr/>
        </p:nvSpPr>
        <p:spPr>
          <a:xfrm>
            <a:off x="9418320" y="3017520"/>
            <a:ext cx="228600" cy="0"/>
          </a:xfrm>
          <a:prstGeom prst="line">
            <a:avLst/>
          </a:prstGeom>
          <a:noFill/>
          <a:ln w="19050">
            <a:solidFill>
              <a:srgbClr val="404040"/>
            </a:solidFill>
            <a:prstDash val="solid"/>
            <a:tailEnd type="triangle"/>
          </a:ln>
        </p:spPr>
      </p:sp>
      <p:sp>
        <p:nvSpPr>
          <p:cNvPr id="15" name="Stage box 5"/>
          <p:cNvSpPr/>
          <p:nvPr/>
        </p:nvSpPr>
        <p:spPr>
          <a:xfrm>
            <a:off x="9692640" y="1737360"/>
            <a:ext cx="1965960" cy="2560320"/>
          </a:xfrm>
          <a:prstGeom prst="rect">
            <a:avLst/>
          </a:prstGeom>
          <a:solidFill>
            <a:schemeClr val="bg1"/>
          </a:solidFill>
          <a:ln w="12700">
            <a:solidFill>
              <a:srgbClr val="8C8C8C"/>
            </a:solidFill>
            <a:prstDash val="dash"/>
          </a:ln>
        </p:spPr>
      </p:sp>
      <p:sp>
        <p:nvSpPr>
          <p:cNvPr id="16" name="Stage text 5"/>
          <p:cNvSpPr txBox="1"/>
          <p:nvPr/>
        </p:nvSpPr>
        <p:spPr>
          <a:xfrm>
            <a:off x="9875520" y="1920240"/>
            <a:ext cx="1600200" cy="2240280"/>
          </a:xfrm>
          <a:prstGeom prst="rect">
            <a:avLst/>
          </a:prstGeom>
          <a:noFill/>
          <a:ln/>
        </p:spPr>
        <p:txBody>
          <a:bodyPr wrap="square" lIns="0" tIns="0" rIns="0" bIns="0" rtlCol="0" anchor="t"/>
          <a:lstStyle/>
          <a:p>
            <a:pPr indent="0" marL="0">
              <a:buNone/>
            </a:pPr>
            <a:r>
              <a:rPr lang="en-US" sz="1200" b="1" dirty="0">
                <a:solidFill>
                  <a:schemeClr val="accent2"/>
                </a:solidFill>
              </a:rPr>
              <a:t>STAGE 5 · NEXT</a:t>
            </a:r>
            <a:endParaRPr lang="en-US" sz="1600" dirty="0"/>
          </a:p>
          <a:p>
            <a:pPr indent="0" marL="0">
              <a:spcBef>
                <a:spcPts val="400"/>
              </a:spcBef>
              <a:buNone/>
            </a:pPr>
            <a:r>
              <a:rPr lang="en-US" sz="2000" b="1" dirty="0">
                <a:solidFill>
                  <a:schemeClr val="tx1"/>
                </a:solidFill>
              </a:rPr>
              <a:t>Features</a:t>
            </a:r>
            <a:endParaRPr lang="en-US" sz="1600" dirty="0"/>
          </a:p>
          <a:p>
            <a:pPr indent="0" marL="0">
              <a:spcBef>
                <a:spcPts val="800"/>
              </a:spcBef>
              <a:buNone/>
            </a:pPr>
            <a:r>
              <a:rPr lang="en-US" sz="1400" dirty="0">
                <a:solidFill>
                  <a:schemeClr val="accent3"/>
                </a:solidFill>
              </a:rPr>
              <a:t>Per habsos sample: 3×3 cells over the past 8 days</a:t>
            </a:r>
            <a:endParaRPr lang="en-US" sz="1600" dirty="0"/>
          </a:p>
        </p:txBody>
      </p:sp>
      <p:sp>
        <p:nvSpPr>
          <p:cNvPr id="17" name="Pipeline status"/>
          <p:cNvSpPr txBox="1"/>
          <p:nvPr/>
        </p:nvSpPr>
        <p:spPr>
          <a:xfrm>
            <a:off x="548640" y="4754880"/>
            <a:ext cx="11091672" cy="640080"/>
          </a:xfrm>
          <a:prstGeom prst="rect">
            <a:avLst/>
          </a:prstGeom>
          <a:noFill/>
          <a:ln/>
        </p:spPr>
        <p:txBody>
          <a:bodyPr wrap="square" lIns="0" tIns="0" rIns="0" bIns="0" rtlCol="0" anchor="t"/>
          <a:lstStyle/>
          <a:p>
            <a:pPr indent="0" marL="0">
              <a:buNone/>
            </a:pPr>
            <a:r>
              <a:rPr lang="en-US" sz="1600" dirty="0">
                <a:solidFill>
                  <a:schemeClr val="tx1"/>
                </a:solidFill>
              </a:rPr>
              <a:t>Stages 1–4 are done in </a:t>
            </a:r>
            <a:pPr indent="0" marL="0">
              <a:buNone/>
            </a:pPr>
            <a:r>
              <a:rPr lang="en-US" sz="1600" b="1" dirty="0">
                <a:solidFill>
                  <a:schemeClr val="tx1"/>
                </a:solidFill>
              </a:rPr>
              <a:t>merge_chlorophyll.ipynb</a:t>
            </a:r>
            <a:pPr indent="0" marL="0">
              <a:buNone/>
            </a:pPr>
            <a:r>
              <a:rPr lang="en-US" sz="1600" dirty="0">
                <a:solidFill>
                  <a:schemeClr val="tx1"/>
                </a:solidFill>
              </a:rPr>
              <a:t>. Stage 5 waits on the team's choice of target and forecast horizon.</a:t>
            </a:r>
            <a:endParaRPr lang="en-US" sz="16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The adjustment, tested on a year it never saw</a:t>
            </a:r>
            <a:endParaRPr lang="en-US" sz="3200" dirty="0"/>
          </a:p>
        </p:txBody>
      </p:sp>
      <p:graphicFrame>
        <p:nvGraphicFramePr>
          <p:cNvPr id="3" name="Before after by level" descr=""/>
          <p:cNvGraphicFramePr/>
          <p:nvPr/>
        </p:nvGraphicFramePr>
        <p:xfrm>
          <a:off x="548640" y="1234440"/>
          <a:ext cx="667512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Before after by season" descr=""/>
          <p:cNvGraphicFramePr/>
          <p:nvPr/>
        </p:nvGraphicFramePr>
        <p:xfrm>
          <a:off x="7406640" y="1234440"/>
          <a:ext cx="4233672" cy="3611880"/>
        </p:xfrm>
        <a:graphic xmlns:a="http://schemas.openxmlformats.org/drawingml/2006/main">
          <a:graphicData uri="http://schemas.openxmlformats.org/drawingml/2006/chart">
            <c:chart xmlns:c="http://schemas.openxmlformats.org/drawingml/2006/chart" r:id="rId2"/>
          </a:graphicData>
        </a:graphic>
      </p:graphicFrame>
      <p:sp>
        <p:nvSpPr>
          <p:cNvPr id="5" name="Result card 1"/>
          <p:cNvSpPr/>
          <p:nvPr/>
        </p:nvSpPr>
        <p:spPr>
          <a:xfrm>
            <a:off x="548640" y="4983480"/>
            <a:ext cx="3575304" cy="1143000"/>
          </a:xfrm>
          <a:prstGeom prst="rect">
            <a:avLst/>
          </a:prstGeom>
          <a:solidFill>
            <a:schemeClr val="bg2"/>
          </a:solidFill>
          <a:ln w="12700">
            <a:solidFill>
              <a:schemeClr val="bg2"/>
            </a:solidFill>
            <a:prstDash val="solid"/>
          </a:ln>
        </p:spPr>
      </p:sp>
      <p:sp>
        <p:nvSpPr>
          <p:cNvPr id="6" name="Result text 1"/>
          <p:cNvSpPr txBox="1"/>
          <p:nvPr/>
        </p:nvSpPr>
        <p:spPr>
          <a:xfrm>
            <a:off x="777240" y="5120640"/>
            <a:ext cx="3154680" cy="914400"/>
          </a:xfrm>
          <a:prstGeom prst="rect">
            <a:avLst/>
          </a:prstGeom>
          <a:noFill/>
          <a:ln/>
        </p:spPr>
        <p:txBody>
          <a:bodyPr wrap="square" lIns="0" tIns="0" rIns="0" bIns="0" rtlCol="0" anchor="t"/>
          <a:lstStyle/>
          <a:p>
            <a:pPr indent="0" marL="0">
              <a:buNone/>
            </a:pPr>
            <a:r>
              <a:rPr lang="en-US" sz="1400" dirty="0">
                <a:solidFill>
                  <a:schemeClr val="accent3"/>
                </a:solidFill>
              </a:rPr>
              <a:t>Overall gap</a:t>
            </a:r>
            <a:endParaRPr lang="en-US" sz="1600" dirty="0"/>
          </a:p>
          <a:p>
            <a:pPr indent="0" marL="0">
              <a:spcBef>
                <a:spcPts val="400"/>
              </a:spcBef>
              <a:buNone/>
            </a:pPr>
            <a:r>
              <a:rPr lang="en-US" sz="2000" b="1" dirty="0">
                <a:solidFill>
                  <a:schemeClr val="tx1"/>
                </a:solidFill>
              </a:rPr>
              <a:t>7.3% → 0.1% (closed)</a:t>
            </a:r>
            <a:endParaRPr lang="en-US" sz="1600" dirty="0"/>
          </a:p>
        </p:txBody>
      </p:sp>
      <p:sp>
        <p:nvSpPr>
          <p:cNvPr id="7" name="Result card 2"/>
          <p:cNvSpPr/>
          <p:nvPr/>
        </p:nvSpPr>
        <p:spPr>
          <a:xfrm>
            <a:off x="4306824" y="4983480"/>
            <a:ext cx="3575304" cy="1143000"/>
          </a:xfrm>
          <a:prstGeom prst="rect">
            <a:avLst/>
          </a:prstGeom>
          <a:solidFill>
            <a:schemeClr val="bg2"/>
          </a:solidFill>
          <a:ln w="12700">
            <a:solidFill>
              <a:schemeClr val="bg2"/>
            </a:solidFill>
            <a:prstDash val="solid"/>
          </a:ln>
        </p:spPr>
      </p:sp>
      <p:sp>
        <p:nvSpPr>
          <p:cNvPr id="8" name="Result text 2"/>
          <p:cNvSpPr txBox="1"/>
          <p:nvPr/>
        </p:nvSpPr>
        <p:spPr>
          <a:xfrm>
            <a:off x="4535424" y="5120640"/>
            <a:ext cx="3154680" cy="914400"/>
          </a:xfrm>
          <a:prstGeom prst="rect">
            <a:avLst/>
          </a:prstGeom>
          <a:noFill/>
          <a:ln/>
        </p:spPr>
        <p:txBody>
          <a:bodyPr wrap="square" lIns="0" tIns="0" rIns="0" bIns="0" rtlCol="0" anchor="t"/>
          <a:lstStyle/>
          <a:p>
            <a:pPr indent="0" marL="0">
              <a:buNone/>
            </a:pPr>
            <a:r>
              <a:rPr lang="en-US" sz="1400" dirty="0">
                <a:solidFill>
                  <a:schemeClr val="accent3"/>
                </a:solidFill>
              </a:rPr>
              <a:t>Typical water (up to 3 mg m⁻³)</a:t>
            </a:r>
            <a:endParaRPr lang="en-US" sz="1600" dirty="0"/>
          </a:p>
          <a:p>
            <a:pPr indent="0" marL="0">
              <a:spcBef>
                <a:spcPts val="400"/>
              </a:spcBef>
              <a:buNone/>
            </a:pPr>
            <a:r>
              <a:rPr lang="en-US" sz="2000" b="1" dirty="0">
                <a:solidFill>
                  <a:schemeClr val="tx1"/>
                </a:solidFill>
              </a:rPr>
              <a:t>About 0 (closed)</a:t>
            </a:r>
            <a:endParaRPr lang="en-US" sz="1600" dirty="0"/>
          </a:p>
        </p:txBody>
      </p:sp>
      <p:sp>
        <p:nvSpPr>
          <p:cNvPr id="9" name="Result card 3"/>
          <p:cNvSpPr/>
          <p:nvPr/>
        </p:nvSpPr>
        <p:spPr>
          <a:xfrm>
            <a:off x="8065008" y="4983480"/>
            <a:ext cx="3575304" cy="1143000"/>
          </a:xfrm>
          <a:prstGeom prst="rect">
            <a:avLst/>
          </a:prstGeom>
          <a:solidFill>
            <a:schemeClr val="bg2"/>
          </a:solidFill>
          <a:ln w="12700">
            <a:solidFill>
              <a:schemeClr val="bg2"/>
            </a:solidFill>
            <a:prstDash val="solid"/>
          </a:ln>
        </p:spPr>
      </p:sp>
      <p:sp>
        <p:nvSpPr>
          <p:cNvPr id="10" name="Result text 3"/>
          <p:cNvSpPr txBox="1"/>
          <p:nvPr/>
        </p:nvSpPr>
        <p:spPr>
          <a:xfrm>
            <a:off x="8293608" y="5120640"/>
            <a:ext cx="3154680" cy="914400"/>
          </a:xfrm>
          <a:prstGeom prst="rect">
            <a:avLst/>
          </a:prstGeom>
          <a:noFill/>
          <a:ln/>
        </p:spPr>
        <p:txBody>
          <a:bodyPr wrap="square" lIns="0" tIns="0" rIns="0" bIns="0" rtlCol="0" anchor="t"/>
          <a:lstStyle/>
          <a:p>
            <a:pPr indent="0" marL="0">
              <a:buNone/>
            </a:pPr>
            <a:r>
              <a:rPr lang="en-US" sz="1400" dirty="0">
                <a:solidFill>
                  <a:schemeClr val="accent3"/>
                </a:solidFill>
              </a:rPr>
              <a:t>Bloom level (above 10 mg m⁻³)</a:t>
            </a:r>
            <a:endParaRPr lang="en-US" sz="1600" dirty="0"/>
          </a:p>
          <a:p>
            <a:pPr indent="0" marL="0">
              <a:spcBef>
                <a:spcPts val="400"/>
              </a:spcBef>
              <a:buNone/>
            </a:pPr>
            <a:r>
              <a:rPr lang="en-US" sz="2000" b="1" dirty="0">
                <a:solidFill>
                  <a:schemeClr val="tx1"/>
                </a:solidFill>
              </a:rPr>
              <a:t>~44% → ~22% (halved)</a:t>
            </a:r>
            <a:endParaRPr lang="en-US" sz="1600" dirty="0"/>
          </a:p>
        </p:txBody>
      </p:sp>
      <p:sp>
        <p:nvSpPr>
          <p:cNvPr id="11" name="Source"/>
          <p:cNvSpPr txBox="1"/>
          <p:nvPr/>
        </p:nvSpPr>
        <p:spPr>
          <a:xfrm>
            <a:off x="548640" y="6355080"/>
            <a:ext cx="10424160" cy="274320"/>
          </a:xfrm>
          <a:prstGeom prst="rect">
            <a:avLst/>
          </a:prstGeom>
          <a:noFill/>
          <a:ln/>
        </p:spPr>
        <p:txBody>
          <a:bodyPr wrap="square" lIns="0" tIns="0" rIns="0" bIns="0" rtlCol="0" anchor="t"/>
          <a:lstStyle/>
          <a:p>
            <a:pPr indent="0" marL="0">
              <a:buNone/>
            </a:pPr>
            <a:r>
              <a:rPr lang="en-US" sz="1100" dirty="0">
                <a:solidFill>
                  <a:schemeClr val="accent2"/>
                </a:solidFill>
              </a:rPr>
              <a:t>Fitted on Jun 2020 – May 2021, tested on Jun 2021 – May 2022 · Source: merge_chlorophyll.ipynb, stage 3</a:t>
            </a:r>
            <a:endParaRPr lang="en-US" sz="11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The merged dataset: no jump at the switch-overs</a:t>
            </a:r>
            <a:endParaRPr lang="en-US" sz="3200" dirty="0"/>
          </a:p>
        </p:txBody>
      </p:sp>
      <p:sp>
        <p:nvSpPr>
          <p:cNvPr id="3" name="Merged stat box 1"/>
          <p:cNvSpPr/>
          <p:nvPr/>
        </p:nvSpPr>
        <p:spPr>
          <a:xfrm>
            <a:off x="548640" y="1280160"/>
            <a:ext cx="2651760" cy="1005840"/>
          </a:xfrm>
          <a:prstGeom prst="rect">
            <a:avLst/>
          </a:prstGeom>
          <a:solidFill>
            <a:schemeClr val="bg2"/>
          </a:solidFill>
          <a:ln w="12700">
            <a:solidFill>
              <a:schemeClr val="bg2"/>
            </a:solidFill>
            <a:prstDash val="solid"/>
          </a:ln>
        </p:spPr>
      </p:sp>
      <p:sp>
        <p:nvSpPr>
          <p:cNvPr id="4" name="Merged stat 1"/>
          <p:cNvSpPr txBox="1"/>
          <p:nvPr/>
        </p:nvSpPr>
        <p:spPr>
          <a:xfrm>
            <a:off x="731520" y="1371600"/>
            <a:ext cx="2286000" cy="822960"/>
          </a:xfrm>
          <a:prstGeom prst="rect">
            <a:avLst/>
          </a:prstGeom>
          <a:noFill/>
          <a:ln/>
        </p:spPr>
        <p:txBody>
          <a:bodyPr wrap="square" lIns="0" tIns="0" rIns="0" bIns="0" rtlCol="0" anchor="t"/>
          <a:lstStyle/>
          <a:p>
            <a:pPr indent="0" marL="0">
              <a:buNone/>
            </a:pPr>
            <a:r>
              <a:rPr lang="en-US" sz="2400" b="1" dirty="0">
                <a:solidFill>
                  <a:schemeClr val="tx2"/>
                </a:solidFill>
              </a:rPr>
              <a:t>2.52 million</a:t>
            </a:r>
            <a:endParaRPr lang="en-US" sz="1600" dirty="0"/>
          </a:p>
          <a:p>
            <a:pPr indent="0" marL="0">
              <a:buNone/>
            </a:pPr>
            <a:r>
              <a:rPr lang="en-US" sz="1400" dirty="0">
                <a:solidFill>
                  <a:schemeClr val="accent3"/>
                </a:solidFill>
              </a:rPr>
              <a:t>daily observations</a:t>
            </a:r>
            <a:endParaRPr lang="en-US" sz="1600" dirty="0"/>
          </a:p>
        </p:txBody>
      </p:sp>
      <p:sp>
        <p:nvSpPr>
          <p:cNvPr id="5" name="Merged stat box 2"/>
          <p:cNvSpPr/>
          <p:nvPr/>
        </p:nvSpPr>
        <p:spPr>
          <a:xfrm>
            <a:off x="3364992" y="1280160"/>
            <a:ext cx="2651760" cy="1005840"/>
          </a:xfrm>
          <a:prstGeom prst="rect">
            <a:avLst/>
          </a:prstGeom>
          <a:solidFill>
            <a:schemeClr val="bg2"/>
          </a:solidFill>
          <a:ln w="12700">
            <a:solidFill>
              <a:schemeClr val="bg2"/>
            </a:solidFill>
            <a:prstDash val="solid"/>
          </a:ln>
        </p:spPr>
      </p:sp>
      <p:sp>
        <p:nvSpPr>
          <p:cNvPr id="6" name="Merged stat 2"/>
          <p:cNvSpPr txBox="1"/>
          <p:nvPr/>
        </p:nvSpPr>
        <p:spPr>
          <a:xfrm>
            <a:off x="3547872" y="1371600"/>
            <a:ext cx="2286000" cy="822960"/>
          </a:xfrm>
          <a:prstGeom prst="rect">
            <a:avLst/>
          </a:prstGeom>
          <a:noFill/>
          <a:ln/>
        </p:spPr>
        <p:txBody>
          <a:bodyPr wrap="square" lIns="0" tIns="0" rIns="0" bIns="0" rtlCol="0" anchor="t"/>
          <a:lstStyle/>
          <a:p>
            <a:pPr indent="0" marL="0">
              <a:buNone/>
            </a:pPr>
            <a:r>
              <a:rPr lang="en-US" sz="2400" b="1" dirty="0">
                <a:solidFill>
                  <a:schemeClr val="tx2"/>
                </a:solidFill>
              </a:rPr>
              <a:t>1,328</a:t>
            </a:r>
            <a:endParaRPr lang="en-US" sz="1600" dirty="0"/>
          </a:p>
          <a:p>
            <a:pPr indent="0" marL="0">
              <a:buNone/>
            </a:pPr>
            <a:r>
              <a:rPr lang="en-US" sz="1400" dirty="0">
                <a:solidFill>
                  <a:schemeClr val="accent3"/>
                </a:solidFill>
              </a:rPr>
              <a:t>water cells on DS1's grid</a:t>
            </a:r>
            <a:endParaRPr lang="en-US" sz="1600" dirty="0"/>
          </a:p>
        </p:txBody>
      </p:sp>
      <p:sp>
        <p:nvSpPr>
          <p:cNvPr id="7" name="Merged stat box 3"/>
          <p:cNvSpPr/>
          <p:nvPr/>
        </p:nvSpPr>
        <p:spPr>
          <a:xfrm>
            <a:off x="6181344" y="1280160"/>
            <a:ext cx="2651760" cy="1005840"/>
          </a:xfrm>
          <a:prstGeom prst="rect">
            <a:avLst/>
          </a:prstGeom>
          <a:solidFill>
            <a:schemeClr val="bg2"/>
          </a:solidFill>
          <a:ln w="12700">
            <a:solidFill>
              <a:schemeClr val="bg2"/>
            </a:solidFill>
            <a:prstDash val="solid"/>
          </a:ln>
        </p:spPr>
      </p:sp>
      <p:sp>
        <p:nvSpPr>
          <p:cNvPr id="8" name="Merged stat 3"/>
          <p:cNvSpPr txBox="1"/>
          <p:nvPr/>
        </p:nvSpPr>
        <p:spPr>
          <a:xfrm>
            <a:off x="6364224" y="1371600"/>
            <a:ext cx="2286000" cy="822960"/>
          </a:xfrm>
          <a:prstGeom prst="rect">
            <a:avLst/>
          </a:prstGeom>
          <a:noFill/>
          <a:ln/>
        </p:spPr>
        <p:txBody>
          <a:bodyPr wrap="square" lIns="0" tIns="0" rIns="0" bIns="0" rtlCol="0" anchor="t"/>
          <a:lstStyle/>
          <a:p>
            <a:pPr indent="0" marL="0">
              <a:buNone/>
            </a:pPr>
            <a:r>
              <a:rPr lang="en-US" sz="2400" b="1" dirty="0">
                <a:solidFill>
                  <a:schemeClr val="tx2"/>
                </a:solidFill>
              </a:rPr>
              <a:t>0</a:t>
            </a:r>
            <a:endParaRPr lang="en-US" sz="1600" dirty="0"/>
          </a:p>
          <a:p>
            <a:pPr indent="0" marL="0">
              <a:buNone/>
            </a:pPr>
            <a:r>
              <a:rPr lang="en-US" sz="1400" dirty="0">
                <a:solidFill>
                  <a:schemeClr val="accent3"/>
                </a:solidFill>
              </a:rPr>
              <a:t>duplicate cell-days</a:t>
            </a:r>
            <a:endParaRPr lang="en-US" sz="1600" dirty="0"/>
          </a:p>
        </p:txBody>
      </p:sp>
      <p:sp>
        <p:nvSpPr>
          <p:cNvPr id="9" name="Merged stat box 4"/>
          <p:cNvSpPr/>
          <p:nvPr/>
        </p:nvSpPr>
        <p:spPr>
          <a:xfrm>
            <a:off x="8997696" y="1280160"/>
            <a:ext cx="2651760" cy="1005840"/>
          </a:xfrm>
          <a:prstGeom prst="rect">
            <a:avLst/>
          </a:prstGeom>
          <a:solidFill>
            <a:schemeClr val="bg2"/>
          </a:solidFill>
          <a:ln w="12700">
            <a:solidFill>
              <a:schemeClr val="bg2"/>
            </a:solidFill>
            <a:prstDash val="solid"/>
          </a:ln>
        </p:spPr>
      </p:sp>
      <p:sp>
        <p:nvSpPr>
          <p:cNvPr id="10" name="Merged stat 4"/>
          <p:cNvSpPr txBox="1"/>
          <p:nvPr/>
        </p:nvSpPr>
        <p:spPr>
          <a:xfrm>
            <a:off x="9180576" y="1371600"/>
            <a:ext cx="2286000" cy="822960"/>
          </a:xfrm>
          <a:prstGeom prst="rect">
            <a:avLst/>
          </a:prstGeom>
          <a:noFill/>
          <a:ln/>
        </p:spPr>
        <p:txBody>
          <a:bodyPr wrap="square" lIns="0" tIns="0" rIns="0" bIns="0" rtlCol="0" anchor="t"/>
          <a:lstStyle/>
          <a:p>
            <a:pPr indent="0" marL="0">
              <a:buNone/>
            </a:pPr>
            <a:r>
              <a:rPr lang="en-US" sz="2400" b="1" dirty="0">
                <a:solidFill>
                  <a:schemeClr val="tx2"/>
                </a:solidFill>
              </a:rPr>
              <a:t>35 MB</a:t>
            </a:r>
            <a:endParaRPr lang="en-US" sz="1600" dirty="0"/>
          </a:p>
          <a:p>
            <a:pPr indent="0" marL="0">
              <a:buNone/>
            </a:pPr>
            <a:r>
              <a:rPr lang="en-US" sz="1400" dirty="0">
                <a:solidFill>
                  <a:schemeClr val="accent3"/>
                </a:solidFill>
              </a:rPr>
              <a:t>Parquet file, 9 columns</a:t>
            </a:r>
            <a:endParaRPr lang="en-US" sz="1600" dirty="0"/>
          </a:p>
        </p:txBody>
      </p:sp>
      <p:graphicFrame>
        <p:nvGraphicFramePr>
          <p:cNvPr id="11" name="Monthly median chart" descr=""/>
          <p:cNvGraphicFramePr/>
          <p:nvPr/>
        </p:nvGraphicFramePr>
        <p:xfrm>
          <a:off x="548640" y="2468880"/>
          <a:ext cx="11091672" cy="37490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Known limitations</a:t>
            </a:r>
            <a:endParaRPr lang="en-US" sz="3200" dirty="0"/>
          </a:p>
        </p:txBody>
      </p:sp>
      <p:graphicFrame>
        <p:nvGraphicFramePr>
          <p:cNvPr id="16" name="Limitation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108960"/>
                <a:gridCol w="3840480"/>
                <a:gridCol w="4142232"/>
              </a:tblGrid>
              <a:tr h="685800">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Limitation</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What it means</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What to do</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r>
              <a:tr h="68580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Pre-2020 bloom values still somewhat high</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The bloom-level gap was halved, not closed</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Keep source as a model feature; try a per-season or paired calibration</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8580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Bays before 2020 mostly empty</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DS2 sees inside the bays on only 3–6% of days</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Expect chl_missing = 1 at bay sites before 2020</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8580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One year-round adjustment</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Spring over-corrected, winter under-corrected</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Fit one table per season</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8580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Gaps may hide blooms</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Masks can remove dense-bloom pixels more often</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Use the missing flag as a feature, never fill with a mean</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8580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Product identity unconfirmed</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Exact satellite products for DS1 and DS2 not confirmed</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Ask the data provider</a:t>
                      </a:r>
                      <a:endParaRPr lang="en-US" sz="1500" dirty="0">
                        <a:latin typeface="Calibri" charset="0"/>
                        <a:ea typeface="Calibri" charset="0"/>
                        <a:cs typeface="Calibri" charset="0"/>
                      </a:endParaRPr>
                    </a:p>
                  </a:txBody>
                  <a:tcPr marL="101600" marR="101600" marT="50800" marB="5080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200" b="1" dirty="0">
                <a:solidFill>
                  <a:schemeClr val="tx1"/>
                </a:solidFill>
              </a:rPr>
              <a:t>Next steps and open questions</a:t>
            </a:r>
            <a:endParaRPr lang="en-US" sz="3200" dirty="0"/>
          </a:p>
        </p:txBody>
      </p:sp>
      <p:sp>
        <p:nvSpPr>
          <p:cNvPr id="3" name="Next column 1"/>
          <p:cNvSpPr/>
          <p:nvPr/>
        </p:nvSpPr>
        <p:spPr>
          <a:xfrm>
            <a:off x="548640" y="1371600"/>
            <a:ext cx="3575304" cy="4480560"/>
          </a:xfrm>
          <a:prstGeom prst="rect">
            <a:avLst/>
          </a:prstGeom>
          <a:solidFill>
            <a:schemeClr val="bg2"/>
          </a:solidFill>
          <a:ln w="12700">
            <a:solidFill>
              <a:schemeClr val="bg2"/>
            </a:solidFill>
            <a:prstDash val="solid"/>
          </a:ln>
        </p:spPr>
      </p:sp>
      <p:sp>
        <p:nvSpPr>
          <p:cNvPr id="4" name="Next heading 1"/>
          <p:cNvSpPr txBox="1"/>
          <p:nvPr/>
        </p:nvSpPr>
        <p:spPr>
          <a:xfrm>
            <a:off x="822960" y="1600200"/>
            <a:ext cx="3026664" cy="411480"/>
          </a:xfrm>
          <a:prstGeom prst="rect">
            <a:avLst/>
          </a:prstGeom>
          <a:noFill/>
          <a:ln/>
        </p:spPr>
        <p:txBody>
          <a:bodyPr wrap="square" lIns="0" tIns="0" rIns="0" bIns="0" rtlCol="0" anchor="t"/>
          <a:lstStyle/>
          <a:p>
            <a:pPr indent="0" marL="0">
              <a:buNone/>
            </a:pPr>
            <a:r>
              <a:rPr lang="en-US" sz="2000" b="1" dirty="0">
                <a:solidFill>
                  <a:schemeClr val="tx1"/>
                </a:solidFill>
              </a:rPr>
              <a:t>For our advisor</a:t>
            </a:r>
            <a:endParaRPr lang="en-US" sz="2000" dirty="0"/>
          </a:p>
        </p:txBody>
      </p:sp>
      <p:sp>
        <p:nvSpPr>
          <p:cNvPr id="5" name="Next items 1"/>
          <p:cNvSpPr txBox="1"/>
          <p:nvPr/>
        </p:nvSpPr>
        <p:spPr>
          <a:xfrm>
            <a:off x="822960" y="2148840"/>
            <a:ext cx="3026664" cy="3474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Which exact products are DS1 and DS2?</a:t>
            </a:r>
            <a:endParaRPr lang="en-US" sz="1600" dirty="0"/>
          </a:p>
          <a:p>
            <a:pPr marL="342900" indent="-342900">
              <a:spcAft>
                <a:spcPts val="1000"/>
              </a:spcAft>
              <a:buSzPct val="100000"/>
              <a:buChar char="•"/>
            </a:pPr>
            <a:r>
              <a:rPr lang="en-US" sz="1600" dirty="0">
                <a:solidFill>
                  <a:schemeClr val="tx1"/>
                </a:solidFill>
              </a:rPr>
              <a:t>Can we get NOAA's 2 km gap-filled (DINEOF) chlorophyll for 2018–2026, as named in the project overview?</a:t>
            </a:r>
            <a:endParaRPr lang="en-US" sz="1600" dirty="0"/>
          </a:p>
        </p:txBody>
      </p:sp>
      <p:sp>
        <p:nvSpPr>
          <p:cNvPr id="6" name="Next column 2"/>
          <p:cNvSpPr/>
          <p:nvPr/>
        </p:nvSpPr>
        <p:spPr>
          <a:xfrm>
            <a:off x="4306824" y="1371600"/>
            <a:ext cx="3575304" cy="4480560"/>
          </a:xfrm>
          <a:prstGeom prst="rect">
            <a:avLst/>
          </a:prstGeom>
          <a:solidFill>
            <a:schemeClr val="bg2"/>
          </a:solidFill>
          <a:ln w="12700">
            <a:solidFill>
              <a:schemeClr val="bg2"/>
            </a:solidFill>
            <a:prstDash val="solid"/>
          </a:ln>
        </p:spPr>
      </p:sp>
      <p:sp>
        <p:nvSpPr>
          <p:cNvPr id="7" name="Next heading 2"/>
          <p:cNvSpPr txBox="1"/>
          <p:nvPr/>
        </p:nvSpPr>
        <p:spPr>
          <a:xfrm>
            <a:off x="4581144" y="1600200"/>
            <a:ext cx="3026664" cy="411480"/>
          </a:xfrm>
          <a:prstGeom prst="rect">
            <a:avLst/>
          </a:prstGeom>
          <a:noFill/>
          <a:ln/>
        </p:spPr>
        <p:txBody>
          <a:bodyPr wrap="square" lIns="0" tIns="0" rIns="0" bIns="0" rtlCol="0" anchor="t"/>
          <a:lstStyle/>
          <a:p>
            <a:pPr indent="0" marL="0">
              <a:buNone/>
            </a:pPr>
            <a:r>
              <a:rPr lang="en-US" sz="2000" b="1" dirty="0">
                <a:solidFill>
                  <a:schemeClr val="tx1"/>
                </a:solidFill>
              </a:rPr>
              <a:t>For the team</a:t>
            </a:r>
            <a:endParaRPr lang="en-US" sz="2000" dirty="0"/>
          </a:p>
        </p:txBody>
      </p:sp>
      <p:sp>
        <p:nvSpPr>
          <p:cNvPr id="8" name="Next items 2"/>
          <p:cNvSpPr txBox="1"/>
          <p:nvPr/>
        </p:nvSpPr>
        <p:spPr>
          <a:xfrm>
            <a:off x="4581144" y="2148840"/>
            <a:ext cx="3026664" cy="3474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Confirm habsos CATEGORY as the target.</a:t>
            </a:r>
            <a:endParaRPr lang="en-US" sz="1600" dirty="0"/>
          </a:p>
          <a:p>
            <a:pPr marL="342900" indent="-342900">
              <a:spcAft>
                <a:spcPts val="1000"/>
              </a:spcAft>
              <a:buSzPct val="100000"/>
              <a:buChar char="•"/>
            </a:pPr>
            <a:r>
              <a:rPr lang="en-US" sz="1600" dirty="0">
                <a:solidFill>
                  <a:schemeClr val="tx1"/>
                </a:solidFill>
              </a:rPr>
              <a:t>Agree the forecast horizon: same day or N days ahead.</a:t>
            </a:r>
            <a:endParaRPr lang="en-US" sz="1600" dirty="0"/>
          </a:p>
          <a:p>
            <a:pPr marL="342900" indent="-342900">
              <a:spcAft>
                <a:spcPts val="1000"/>
              </a:spcAft>
              <a:buSzPct val="100000"/>
              <a:buChar char="•"/>
            </a:pPr>
            <a:r>
              <a:rPr lang="en-US" sz="1600" dirty="0">
                <a:solidFill>
                  <a:schemeClr val="tx1"/>
                </a:solidFill>
              </a:rPr>
              <a:t>Issue #8 is closed, but no datasets are merged yet.</a:t>
            </a:r>
            <a:endParaRPr lang="en-US" sz="1600" dirty="0"/>
          </a:p>
        </p:txBody>
      </p:sp>
      <p:sp>
        <p:nvSpPr>
          <p:cNvPr id="9" name="Next column 3"/>
          <p:cNvSpPr/>
          <p:nvPr/>
        </p:nvSpPr>
        <p:spPr>
          <a:xfrm>
            <a:off x="8065008" y="1371600"/>
            <a:ext cx="3575304" cy="4480560"/>
          </a:xfrm>
          <a:prstGeom prst="rect">
            <a:avLst/>
          </a:prstGeom>
          <a:solidFill>
            <a:schemeClr val="bg2"/>
          </a:solidFill>
          <a:ln w="12700">
            <a:solidFill>
              <a:schemeClr val="bg2"/>
            </a:solidFill>
            <a:prstDash val="solid"/>
          </a:ln>
        </p:spPr>
      </p:sp>
      <p:sp>
        <p:nvSpPr>
          <p:cNvPr id="10" name="Next heading 3"/>
          <p:cNvSpPr txBox="1"/>
          <p:nvPr/>
        </p:nvSpPr>
        <p:spPr>
          <a:xfrm>
            <a:off x="8339328" y="1600200"/>
            <a:ext cx="3026664" cy="411480"/>
          </a:xfrm>
          <a:prstGeom prst="rect">
            <a:avLst/>
          </a:prstGeom>
          <a:noFill/>
          <a:ln/>
        </p:spPr>
        <p:txBody>
          <a:bodyPr wrap="square" lIns="0" tIns="0" rIns="0" bIns="0" rtlCol="0" anchor="t"/>
          <a:lstStyle/>
          <a:p>
            <a:pPr indent="0" marL="0">
              <a:buNone/>
            </a:pPr>
            <a:r>
              <a:rPr lang="en-US" sz="2000" b="1" dirty="0">
                <a:solidFill>
                  <a:schemeClr val="tx1"/>
                </a:solidFill>
              </a:rPr>
              <a:t>For us</a:t>
            </a:r>
            <a:endParaRPr lang="en-US" sz="2000" dirty="0"/>
          </a:p>
        </p:txBody>
      </p:sp>
      <p:sp>
        <p:nvSpPr>
          <p:cNvPr id="11" name="Next items 3"/>
          <p:cNvSpPr txBox="1"/>
          <p:nvPr/>
        </p:nvSpPr>
        <p:spPr>
          <a:xfrm>
            <a:off x="8339328" y="2148840"/>
            <a:ext cx="3026664" cy="3474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Per-season or paired calibration for bloom levels.</a:t>
            </a:r>
            <a:endParaRPr lang="en-US" sz="1600" dirty="0"/>
          </a:p>
          <a:p>
            <a:pPr marL="342900" indent="-342900">
              <a:spcAft>
                <a:spcPts val="1000"/>
              </a:spcAft>
              <a:buSzPct val="100000"/>
              <a:buChar char="•"/>
            </a:pPr>
            <a:r>
              <a:rPr lang="en-US" sz="1600" dirty="0">
                <a:solidFill>
                  <a:schemeClr val="tx1"/>
                </a:solidFill>
              </a:rPr>
              <a:t>Stage 5: chlorophyll features per habsos sample.</a:t>
            </a:r>
            <a:endParaRPr lang="en-US" sz="1600" dirty="0"/>
          </a:p>
          <a:p>
            <a:pPr marL="342900" indent="-342900">
              <a:spcAft>
                <a:spcPts val="1000"/>
              </a:spcAft>
              <a:buSzPct val="100000"/>
              <a:buChar char="•"/>
            </a:pPr>
            <a:r>
              <a:rPr lang="en-US" sz="1600" dirty="0">
                <a:solidFill>
                  <a:schemeClr val="tx1"/>
                </a:solidFill>
              </a:rPr>
              <a:t>Clean SarasotaWindData (also 0–360 longitude).</a:t>
            </a:r>
            <a:endParaRPr lang="en-US" sz="16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Plain">
  <a:themeElements>
    <a:clrScheme name="Plain">
      <a:dk1>
        <a:srgbClr val="222222"/>
      </a:dk1>
      <a:lt1>
        <a:srgbClr val="FFFFFF"/>
      </a:lt1>
      <a:dk2>
        <a:srgbClr val="1F4E79"/>
      </a:dk2>
      <a:lt2>
        <a:srgbClr val="F2F2F2"/>
      </a:lt2>
      <a:accent1>
        <a:srgbClr val="1F4E79"/>
      </a:accent1>
      <a:accent2>
        <a:srgbClr val="8C8C8C"/>
      </a:accent2>
      <a:accent3>
        <a:srgbClr val="595959"/>
      </a:accent3>
      <a:accent4>
        <a:srgbClr val="BFBFBF"/>
      </a:accent4>
      <a:accent5>
        <a:srgbClr val="A6A6A6"/>
      </a:accent5>
      <a:accent6>
        <a:srgbClr val="404040"/>
      </a:accent6>
      <a:hlink>
        <a:srgbClr val="1F4E79"/>
      </a:hlink>
      <a:folHlink>
        <a:srgbClr val="595959"/>
      </a:folHlink>
    </a:clrScheme>
    <a:fontScheme name="Pla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Merging the Sarasota chlorophyll-a datasets</dc:title>
  <dc:subject>PptxGenJS Presentation</dc:subject>
  <dc:creator>PptxGenJS</dc:creator>
  <cp:lastModifiedBy>PptxGenJS</cp:lastModifiedBy>
  <cp:revision>1</cp:revision>
  <dcterms:created xsi:type="dcterms:W3CDTF">2026-10-05T04:58:31Z</dcterms:created>
  <dcterms:modified xsi:type="dcterms:W3CDTF">2026-10-05T04:58:31Z</dcterms:modified>
</cp:coreProperties>
</file>